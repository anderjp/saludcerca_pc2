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8dde5762e6a45fd" /><Relationship Type="http://schemas.openxmlformats.org/officeDocument/2006/relationships/extended-properties" Target="/docProps/app.xml" Id="R21123e4f0006497d" /><Relationship Type="http://schemas.openxmlformats.org/officeDocument/2006/relationships/officeDocument" Target="/ppt/presentation.xml" Id="Raadb839aea1a4d4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c87389c335541b1"/>
  </p:sldMasterIdLst>
  <p:notesMasterIdLst>
    <p:notesMasterId xmlns:r="http://schemas.openxmlformats.org/officeDocument/2006/relationships" r:id="R2b9ad4b79284422f"/>
  </p:notesMasterIdLst>
  <p:sldIdLst>
    <p:sldId xmlns:r="http://schemas.openxmlformats.org/officeDocument/2006/relationships" id="256" r:id="R9bd3bd795b0545c2"/>
    <p:sldId xmlns:r="http://schemas.openxmlformats.org/officeDocument/2006/relationships" id="257" r:id="R285e662cb3144e45"/>
    <p:sldId xmlns:r="http://schemas.openxmlformats.org/officeDocument/2006/relationships" id="258" r:id="R814189fb3d3441d0"/>
    <p:sldId xmlns:r="http://schemas.openxmlformats.org/officeDocument/2006/relationships" id="259" r:id="R23f770b1cb9c41a0"/>
    <p:sldId xmlns:r="http://schemas.openxmlformats.org/officeDocument/2006/relationships" id="260" r:id="R7c1fe204251e46d7"/>
    <p:sldId xmlns:r="http://schemas.openxmlformats.org/officeDocument/2006/relationships" id="261" r:id="R130af1a94692408c"/>
    <p:sldId xmlns:r="http://schemas.openxmlformats.org/officeDocument/2006/relationships" id="262" r:id="R23dbd0c40f9e45c6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a6ec28d343f4884" /><Relationship Type="http://schemas.openxmlformats.org/officeDocument/2006/relationships/slideMaster" Target="/ppt/slideMasters/slideMaster1.xml" Id="R4c87389c335541b1" /><Relationship Type="http://schemas.openxmlformats.org/officeDocument/2006/relationships/notesMaster" Target="/ppt/notesMasters/notesMaster1.xml" Id="R2b9ad4b79284422f" /><Relationship Type="http://schemas.openxmlformats.org/officeDocument/2006/relationships/presProps" Target="/ppt/presProps.xml" Id="R47bc2cb41c8941cd" /><Relationship Type="http://schemas.openxmlformats.org/officeDocument/2006/relationships/viewProps" Target="/ppt/viewProps.xml" Id="Rb760af36887f47f5" /><Relationship Type="http://schemas.openxmlformats.org/officeDocument/2006/relationships/tableStyles" Target="/ppt/tableStyles.xml" Id="R85669f08e2f848f7" /><Relationship Type="http://schemas.openxmlformats.org/officeDocument/2006/relationships/slide" Target="/ppt/slides/slide1.xml" Id="R9bd3bd795b0545c2" /><Relationship Type="http://schemas.openxmlformats.org/officeDocument/2006/relationships/slide" Target="/ppt/slides/slide2.xml" Id="R285e662cb3144e45" /><Relationship Type="http://schemas.openxmlformats.org/officeDocument/2006/relationships/slide" Target="/ppt/slides/slide3.xml" Id="R814189fb3d3441d0" /><Relationship Type="http://schemas.openxmlformats.org/officeDocument/2006/relationships/slide" Target="/ppt/slides/slide4.xml" Id="R23f770b1cb9c41a0" /><Relationship Type="http://schemas.openxmlformats.org/officeDocument/2006/relationships/slide" Target="/ppt/slides/slide5.xml" Id="R7c1fe204251e46d7" /><Relationship Type="http://schemas.openxmlformats.org/officeDocument/2006/relationships/slide" Target="/ppt/slides/slide6.xml" Id="R130af1a94692408c" /><Relationship Type="http://schemas.openxmlformats.org/officeDocument/2006/relationships/slide" Target="/ppt/slides/slide7.xml" Id="R23dbd0c40f9e45c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ee068db4b6146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3ec658f47b4afc" /><Relationship Type="http://schemas.openxmlformats.org/officeDocument/2006/relationships/notesMaster" Target="/ppt/notesMasters/notesMaster1.xml" Id="R5679ba76fd5c476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b630e82f79a47f9" /><Relationship Type="http://schemas.openxmlformats.org/officeDocument/2006/relationships/notesMaster" Target="/ppt/notesMasters/notesMaster1.xml" Id="Ra9c8164271e141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3a0832fe933465b" /><Relationship Type="http://schemas.openxmlformats.org/officeDocument/2006/relationships/notesMaster" Target="/ppt/notesMasters/notesMaster1.xml" Id="R1a62fa207ced481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521de26e17d4d51" /><Relationship Type="http://schemas.openxmlformats.org/officeDocument/2006/relationships/notesMaster" Target="/ppt/notesMasters/notesMaster1.xml" Id="R71c171de940843b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82e772ac46f4bc2" /><Relationship Type="http://schemas.openxmlformats.org/officeDocument/2006/relationships/notesMaster" Target="/ppt/notesMasters/notesMaster1.xml" Id="R5b6ad2de88204fe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d0050bbfe06437d" /><Relationship Type="http://schemas.openxmlformats.org/officeDocument/2006/relationships/notesMaster" Target="/ppt/notesMasters/notesMaster1.xml" Id="R111ed95cd80248e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78465365dea455e" /><Relationship Type="http://schemas.openxmlformats.org/officeDocument/2006/relationships/notesMaster" Target="/ppt/notesMasters/notesMaster1.xml" Id="R475436ffc95a475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Abrir el repositorio real antes de la sustentación. La fecha de entrega confirmada es 16/10/2026. La URL sigue pendiente mientras no se publique y compruebe el acceso. Presentar los seis integrantes.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Entorno verificado: JDK 21, Spring Boot 4.1.1, Thymeleaf, JPA/Hibernate y MariaDB de XAMPP. Mostrar pom.xml y paquetes web, service, repository, model y pattern.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Relacionar los cinco UML con el código: Singleton ConfiguracionApp; Factory Method NotificacionFactory y canales; Prototype PlantillaHistorial; Abstract Factory ComprobanteFactory con comprobante y leyenda; Builder ReporteAtencionesBuilder. Ampliar los diagramas al explicar.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Relacionar los cuatro UML con el caso de uso real. Adapter traduce la respuesta simulada; Facade coordina la reserva; Decorator envuelve costos; Composite trata igual hojas y paquetes. Las imágenes conservan el diseño original.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Para la demo funcional, abrir Paciente, elegir a Castañeda y un turno futuro libre. Alternar seguro y Boleta/Recibo antes de completar la identidad. Usar DNI 45231890, seleccionar SMS y confirmar. El envío está simulado. Anotar el número de la nueva cita.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Mostrar la reserva confirmada (Facade), atender esa misma cita desde Médico y personalizar la plantilla (Prototype). En Administrador mostrar Catálogo (Composite), Reportes (Builder) y Configuración (Singleton). Comprobar cita, pago, historial y notificaciones en la base. El pago queda Pendiente; Meet y avisos no son integraciones reales.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Exponer solo cambios verificados. Pendientes del avance: autenticación y autorización, cancelación, verificación de centros, pago completado y robustecer las reservas simultáneas. No prometer integraciones externas. La consigna exige 15 minutos de exposición/demo más 5 de preguntas; el video es evidencia o ensayo salvo indicación adicional del docente.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1f1104e5af48f9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4a5d499bdd6451f" /><Relationship Type="http://schemas.openxmlformats.org/officeDocument/2006/relationships/slideLayout" Target="/ppt/slideLayouts/slideLayout1.xml" Id="Rbfd5518b794d41d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fd5518b794d41d8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80139aed4b4487" /><Relationship Type="http://schemas.openxmlformats.org/officeDocument/2006/relationships/notesSlide" Target="/ppt/notesSlides/notesSlide1.xml" Id="R02a9e71753a049f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4fe3e7fd04836" /><Relationship Type="http://schemas.openxmlformats.org/officeDocument/2006/relationships/notesSlide" Target="/ppt/notesSlides/notesSlide2.xml" Id="R8ced7b2675bc46f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d282ede55b43a4" /><Relationship Type="http://schemas.openxmlformats.org/officeDocument/2006/relationships/image" Target="/ppt/media/image.png" Id="Ra65fa70ba973447a" /><Relationship Type="http://schemas.openxmlformats.org/officeDocument/2006/relationships/image" Target="/ppt/media/image2.png" Id="R7fa7c2fcc0ea4bab" /><Relationship Type="http://schemas.openxmlformats.org/officeDocument/2006/relationships/image" Target="/ppt/media/image3.png" Id="R7967d9a534a247dd" /><Relationship Type="http://schemas.openxmlformats.org/officeDocument/2006/relationships/image" Target="/ppt/media/image4.png" Id="Rd7921a57e78746c5" /><Relationship Type="http://schemas.openxmlformats.org/officeDocument/2006/relationships/image" Target="/ppt/media/image5.png" Id="R295546a09f72487b" /><Relationship Type="http://schemas.openxmlformats.org/officeDocument/2006/relationships/notesSlide" Target="/ppt/notesSlides/notesSlide3.xml" Id="R1f543a169b2f455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41cd4e87594a38" /><Relationship Type="http://schemas.openxmlformats.org/officeDocument/2006/relationships/image" Target="/ppt/media/image6.png" Id="R20c65ef4c06046aa" /><Relationship Type="http://schemas.openxmlformats.org/officeDocument/2006/relationships/image" Target="/ppt/media/image7.png" Id="R3517e26317d64484" /><Relationship Type="http://schemas.openxmlformats.org/officeDocument/2006/relationships/image" Target="/ppt/media/image8.png" Id="Rc1fb9ebd74a04894" /><Relationship Type="http://schemas.openxmlformats.org/officeDocument/2006/relationships/image" Target="/ppt/media/image9.png" Id="Ra4289c08af424ad2" /><Relationship Type="http://schemas.openxmlformats.org/officeDocument/2006/relationships/notesSlide" Target="/ppt/notesSlides/notesSlide4.xml" Id="R9644532196ee481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7f2b2f1b30454b" /><Relationship Type="http://schemas.openxmlformats.org/officeDocument/2006/relationships/notesSlide" Target="/ppt/notesSlides/notesSlide5.xml" Id="R0391dd3934eb4af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8373240b0c47f2" /><Relationship Type="http://schemas.openxmlformats.org/officeDocument/2006/relationships/notesSlide" Target="/ppt/notesSlides/notesSlide6.xml" Id="R5f9103d26462460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4ff365f0984344" /><Relationship Type="http://schemas.openxmlformats.org/officeDocument/2006/relationships/notesSlide" Target="/ppt/notesSlides/notesSlide7.xml" Id="Ra8a70b37a9f74be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3D3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92F6C8C-BC20-47BE-B05C-E82D97A17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-1554480"/>
            <a:ext cx="4206240" cy="42062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5852"/>
          </a:solidFill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26D6AFF-EF2C-48C0-B5B6-78715E971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5074920"/>
            <a:ext cx="2743200" cy="2743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5852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473DEFA-14ED-4CED-A590-871170E6B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"/>
            <a:ext cx="8686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 spc="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UNIVERSIDAD TECNOLÓGICA DEL PERÚ (UTP)</a:t>
            </a:r>
            <a:endParaRPr sz="13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40296C5-B643-496B-A68B-9BE427A0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41248"/>
            <a:ext cx="9144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C9C2"/>
                </a:solidFill>
                <a:latin typeface="Calibri"/>
                <a:ea typeface="Calibri"/>
                <a:cs typeface="Calibri"/>
              </a:rPr>
              <a:t>Facultad de Ingeniería de Sistemas e Informática · Curso: Diseño de Patrones (100000SI47)</a:t>
            </a:r>
            <a:endParaRPr sz="11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254DE7E-BB1A-4699-AA70-D5749EB2D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25880"/>
            <a:ext cx="2743200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2A13A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29BF891-1B87-4E0D-8979-16ABFC4B4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25880"/>
            <a:ext cx="27432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0A3D39"/>
                </a:solidFill>
                <a:latin typeface="Calibri"/>
                <a:ea typeface="Calibri"/>
                <a:cs typeface="Calibri"/>
              </a:rPr>
              <a:t>PRÁCTICA CALIFICADA 2</a:t>
            </a:r>
            <a:endParaRPr sz="12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AA1759E-6467-4179-A166-6430E6DF3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10512"/>
            <a:ext cx="77724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5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SaludCerca</a:t>
            </a:r>
            <a:endParaRPr sz="54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06D3E30-3FE1-4144-8EB3-74FA7EC19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8920"/>
            <a:ext cx="8412480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D5E6E1"/>
                </a:solidFill>
                <a:latin typeface="Calibri"/>
                <a:ea typeface="Calibri"/>
                <a:cs typeface="Calibri"/>
              </a:rPr>
              <a:t>Avance del 50%: implementación de patrones creacionales y estructurales (GoF)</a:t>
            </a:r>
            <a:endParaRPr sz="1600"/>
          </a:p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D5E6E1"/>
                </a:solidFill>
                <a:latin typeface="Calibri"/>
                <a:ea typeface="Calibri"/>
                <a:cs typeface="Calibri"/>
              </a:rPr>
              <a:t>en la plataforma web de gestión de citas médicas</a:t>
            </a:r>
            <a:endParaRPr sz="16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601B3106-D083-4D6D-B67E-75A8B93A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03320"/>
            <a:ext cx="11094415" cy="2697480"/>
          </a:xfrm>
          <a:prstGeom xmlns:a="http://schemas.openxmlformats.org/drawingml/2006/main" prst="roundRect">
            <a:avLst>
              <a:gd name="adj" fmla="val 2712"/>
            </a:avLst>
          </a:prstGeom>
          <a:solidFill xmlns:a="http://schemas.openxmlformats.org/drawingml/2006/main">
            <a:srgbClr val="10514B"/>
          </a:solidFill>
          <a:ln xmlns:a="http://schemas.openxmlformats.org/drawingml/2006/main" w="9525">
            <a:solidFill>
              <a:srgbClr val="2C6E66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32F3D39-9BE5-479D-8B05-2885E04F6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58768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E2A13A"/>
                </a:solidFill>
                <a:latin typeface="Calibri"/>
                <a:ea typeface="Calibri"/>
                <a:cs typeface="Calibri"/>
              </a:rPr>
              <a:t>INTEGRANTES</a:t>
            </a:r>
            <a:endParaRPr sz="1100"/>
          </a:p>
        </p:txBody>
      </p:sp>
      <p:graphicFrame>
        <p:nvGraphicFramePr>
          <p:cNvPr id="18" name="Table 0">
            <a:extLst xmlns:a="http://schemas.openxmlformats.org/drawingml/2006/main">
              <a:ext uri="{FF2B5EF4-FFF2-40B4-BE49-F238E27FC236}">
                <a16:creationId xmlns:a16="http://schemas.microsoft.com/office/drawing/2014/main" id="{31B5D115-8DF9-4825-9783-FE2724CD5EB0}"/>
              </a:ext>
            </a:extLst>
          </p:cNvPr>
          <p:cNvGraphicFramePr/>
          <p:nvPr/>
        </p:nvGraphicFramePr>
        <p:xfrm>
          <a:off xmlns:a="http://schemas.openxmlformats.org/drawingml/2006/main" x="822960" y="4160520"/>
          <a:ext xmlns:a="http://schemas.openxmlformats.org/drawingml/2006/main" cx="5943600" cy="914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1480"/>
                <a:gridCol w="4160520"/>
                <a:gridCol w="1371600"/>
              </a:tblGrid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5221F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  <a:endParaRPr sz="10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9525" cmpd="sng">
                      <a:solidFill>
                        <a:srgbClr val="8FB98A"/>
                      </a:solidFill>
                      <a:prstDash val="solid"/>
                    </a:lnL>
                    <a:lnR w="9525" cmpd="sng">
                      <a:solidFill>
                        <a:srgbClr val="8FB98A"/>
                      </a:solidFill>
                      <a:prstDash val="solid"/>
                    </a:lnR>
                    <a:lnT w="9525" cmpd="sng">
                      <a:solidFill>
                        <a:srgbClr val="8FB98A"/>
                      </a:solidFill>
                      <a:prstDash val="solid"/>
                    </a:lnT>
                    <a:lnB w="9525" cmpd="sng">
                      <a:solidFill>
                        <a:srgbClr val="8FB98A"/>
                      </a:solidFill>
                      <a:prstDash val="solid"/>
                    </a:lnB>
                    <a:solidFill>
                      <a:srgbClr val="B3D3A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5221F"/>
                          </a:solidFill>
                          <a:latin typeface="Calibri"/>
                          <a:ea typeface="Calibri"/>
                          <a:cs typeface="Calibri"/>
                        </a:rPr>
                        <a:t>Kanashiro Yaringaño Eduardo Alfonso</a:t>
                      </a:r>
                      <a:endParaRPr sz="10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9525" cmpd="sng">
                      <a:solidFill>
                        <a:srgbClr val="8FB98A"/>
                      </a:solidFill>
                      <a:prstDash val="solid"/>
                    </a:lnL>
                    <a:lnR w="9525" cmpd="sng">
                      <a:solidFill>
                        <a:srgbClr val="8FB98A"/>
                      </a:solidFill>
                      <a:prstDash val="solid"/>
                    </a:lnR>
                    <a:lnT w="9525" cmpd="sng">
                      <a:solidFill>
                        <a:srgbClr val="8FB98A"/>
                      </a:solidFill>
                      <a:prstDash val="solid"/>
                    </a:lnT>
                    <a:lnB w="9525" cmpd="sng">
                      <a:solidFill>
                        <a:srgbClr val="8FB98A"/>
                      </a:solidFill>
                      <a:prstDash val="solid"/>
                    </a:lnB>
                    <a:solidFill>
                      <a:srgbClr val="B3D3A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5221F"/>
                          </a:solidFill>
                          <a:latin typeface="Calibri"/>
                          <a:ea typeface="Calibri"/>
                          <a:cs typeface="Calibri"/>
                        </a:rPr>
                        <a:t>U23328413</a:t>
                      </a:r>
                      <a:endParaRPr sz="10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9525" cmpd="sng">
                      <a:solidFill>
                        <a:srgbClr val="8FB98A"/>
                      </a:solidFill>
                      <a:prstDash val="solid"/>
                    </a:lnL>
                    <a:lnR w="9525" cmpd="sng">
                      <a:solidFill>
                        <a:srgbClr val="8FB98A"/>
                      </a:solidFill>
                      <a:prstDash val="solid"/>
                    </a:lnR>
                    <a:lnT w="9525" cmpd="sng">
                      <a:solidFill>
                        <a:srgbClr val="8FB98A"/>
                      </a:solidFill>
                      <a:prstDash val="solid"/>
                    </a:lnT>
                    <a:lnB w="9525" cmpd="sng">
                      <a:solidFill>
                        <a:srgbClr val="8FB98A"/>
                      </a:solidFill>
                      <a:prstDash val="solid"/>
                    </a:lnB>
                    <a:solidFill>
                      <a:srgbClr val="B3D3A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5221F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  <a:endParaRPr sz="10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9525" cmpd="sng">
                      <a:solidFill>
                        <a:srgbClr val="8FB98A"/>
                      </a:solidFill>
                      <a:prstDash val="solid"/>
                    </a:lnL>
                    <a:lnR w="9525" cmpd="sng">
                      <a:solidFill>
                        <a:srgbClr val="8FB98A"/>
                      </a:solidFill>
                      <a:prstDash val="solid"/>
                    </a:lnR>
                    <a:lnT w="9525" cmpd="sng">
                      <a:solidFill>
                        <a:srgbClr val="8FB98A"/>
                      </a:solidFill>
                      <a:prstDash val="solid"/>
                    </a:lnT>
                    <a:lnB w="9525" cmpd="sng">
                      <a:solidFill>
                        <a:srgbClr val="8FB98A"/>
                      </a:solidFill>
                      <a:prstDash val="solid"/>
                    </a:lnB>
                    <a:solidFill>
                      <a:srgbClr val="B3D3A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5221F"/>
                          </a:solidFill>
                          <a:latin typeface="Calibri"/>
                          <a:ea typeface="Calibri"/>
                          <a:cs typeface="Calibri"/>
                        </a:rPr>
                        <a:t>Criollo Arias Jean Pierre Sebastian</a:t>
                      </a:r>
                      <a:endParaRPr sz="10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9525" cmpd="sng">
                      <a:solidFill>
                        <a:srgbClr val="8FB98A"/>
                      </a:solidFill>
                      <a:prstDash val="solid"/>
                    </a:lnL>
                    <a:lnR w="9525" cmpd="sng">
                      <a:solidFill>
                        <a:srgbClr val="8FB98A"/>
                      </a:solidFill>
                      <a:prstDash val="solid"/>
                    </a:lnR>
                    <a:lnT w="9525" cmpd="sng">
                      <a:solidFill>
                        <a:srgbClr val="8FB98A"/>
                      </a:solidFill>
                      <a:prstDash val="solid"/>
                    </a:lnT>
                    <a:lnB w="9525" cmpd="sng">
                      <a:solidFill>
                        <a:srgbClr val="8FB98A"/>
                      </a:solidFill>
                      <a:prstDash val="solid"/>
                    </a:lnB>
                    <a:solidFill>
                      <a:srgbClr val="B3D3A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5221F"/>
                          </a:solidFill>
                          <a:latin typeface="Calibri"/>
                          <a:ea typeface="Calibri"/>
                          <a:cs typeface="Calibri"/>
                        </a:rPr>
                        <a:t>U23304637</a:t>
                      </a:r>
                      <a:endParaRPr sz="10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9525" cmpd="sng">
                      <a:solidFill>
                        <a:srgbClr val="8FB98A"/>
                      </a:solidFill>
                      <a:prstDash val="solid"/>
                    </a:lnL>
                    <a:lnR w="9525" cmpd="sng">
                      <a:solidFill>
                        <a:srgbClr val="8FB98A"/>
                      </a:solidFill>
                      <a:prstDash val="solid"/>
                    </a:lnR>
                    <a:lnT w="9525" cmpd="sng">
                      <a:solidFill>
                        <a:srgbClr val="8FB98A"/>
                      </a:solidFill>
                      <a:prstDash val="solid"/>
                    </a:lnT>
                    <a:lnB w="9525" cmpd="sng">
                      <a:solidFill>
                        <a:srgbClr val="8FB98A"/>
                      </a:solidFill>
                      <a:prstDash val="solid"/>
                    </a:lnB>
                    <a:solidFill>
                      <a:srgbClr val="B3D3A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5221F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  <a:endParaRPr sz="10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9525" cmpd="sng">
                      <a:solidFill>
                        <a:srgbClr val="8FB98A"/>
                      </a:solidFill>
                      <a:prstDash val="solid"/>
                    </a:lnL>
                    <a:lnR w="9525" cmpd="sng">
                      <a:solidFill>
                        <a:srgbClr val="8FB98A"/>
                      </a:solidFill>
                      <a:prstDash val="solid"/>
                    </a:lnR>
                    <a:lnT w="9525" cmpd="sng">
                      <a:solidFill>
                        <a:srgbClr val="8FB98A"/>
                      </a:solidFill>
                      <a:prstDash val="solid"/>
                    </a:lnT>
                    <a:lnB w="9525" cmpd="sng">
                      <a:solidFill>
                        <a:srgbClr val="8FB98A"/>
                      </a:solidFill>
                      <a:prstDash val="solid"/>
                    </a:lnB>
                    <a:solidFill>
                      <a:srgbClr val="B3D3A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5221F"/>
                          </a:solidFill>
                          <a:latin typeface="Calibri"/>
                          <a:ea typeface="Calibri"/>
                          <a:cs typeface="Calibri"/>
                        </a:rPr>
                        <a:t>Santisteban Cisneros Johann Alexis</a:t>
                      </a:r>
                      <a:endParaRPr sz="10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9525" cmpd="sng">
                      <a:solidFill>
                        <a:srgbClr val="8FB98A"/>
                      </a:solidFill>
                      <a:prstDash val="solid"/>
                    </a:lnL>
                    <a:lnR w="9525" cmpd="sng">
                      <a:solidFill>
                        <a:srgbClr val="8FB98A"/>
                      </a:solidFill>
                      <a:prstDash val="solid"/>
                    </a:lnR>
                    <a:lnT w="9525" cmpd="sng">
                      <a:solidFill>
                        <a:srgbClr val="8FB98A"/>
                      </a:solidFill>
                      <a:prstDash val="solid"/>
                    </a:lnT>
                    <a:lnB w="9525" cmpd="sng">
                      <a:solidFill>
                        <a:srgbClr val="8FB98A"/>
                      </a:solidFill>
                      <a:prstDash val="solid"/>
                    </a:lnB>
                    <a:solidFill>
                      <a:srgbClr val="B3D3A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5221F"/>
                          </a:solidFill>
                          <a:latin typeface="Calibri"/>
                          <a:ea typeface="Calibri"/>
                          <a:cs typeface="Calibri"/>
                        </a:rPr>
                        <a:t>U23329723</a:t>
                      </a:r>
                      <a:endParaRPr sz="10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9525" cmpd="sng">
                      <a:solidFill>
                        <a:srgbClr val="8FB98A"/>
                      </a:solidFill>
                      <a:prstDash val="solid"/>
                    </a:lnL>
                    <a:lnR w="9525" cmpd="sng">
                      <a:solidFill>
                        <a:srgbClr val="8FB98A"/>
                      </a:solidFill>
                      <a:prstDash val="solid"/>
                    </a:lnR>
                    <a:lnT w="9525" cmpd="sng">
                      <a:solidFill>
                        <a:srgbClr val="8FB98A"/>
                      </a:solidFill>
                      <a:prstDash val="solid"/>
                    </a:lnT>
                    <a:lnB w="9525" cmpd="sng">
                      <a:solidFill>
                        <a:srgbClr val="8FB98A"/>
                      </a:solidFill>
                      <a:prstDash val="solid"/>
                    </a:lnB>
                    <a:solidFill>
                      <a:srgbClr val="B3D3A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5221F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  <a:endParaRPr sz="10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9525" cmpd="sng">
                      <a:solidFill>
                        <a:srgbClr val="8FB98A"/>
                      </a:solidFill>
                      <a:prstDash val="solid"/>
                    </a:lnL>
                    <a:lnR w="9525" cmpd="sng">
                      <a:solidFill>
                        <a:srgbClr val="8FB98A"/>
                      </a:solidFill>
                      <a:prstDash val="solid"/>
                    </a:lnR>
                    <a:lnT w="9525" cmpd="sng">
                      <a:solidFill>
                        <a:srgbClr val="8FB98A"/>
                      </a:solidFill>
                      <a:prstDash val="solid"/>
                    </a:lnT>
                    <a:lnB w="9525" cmpd="sng">
                      <a:solidFill>
                        <a:srgbClr val="8FB98A"/>
                      </a:solidFill>
                      <a:prstDash val="solid"/>
                    </a:lnB>
                    <a:solidFill>
                      <a:srgbClr val="B3D3A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5221F"/>
                          </a:solidFill>
                          <a:latin typeface="Calibri"/>
                          <a:ea typeface="Calibri"/>
                          <a:cs typeface="Calibri"/>
                        </a:rPr>
                        <a:t>Romero Monsefu Anderson</a:t>
                      </a:r>
                      <a:endParaRPr sz="10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9525" cmpd="sng">
                      <a:solidFill>
                        <a:srgbClr val="8FB98A"/>
                      </a:solidFill>
                      <a:prstDash val="solid"/>
                    </a:lnL>
                    <a:lnR w="9525" cmpd="sng">
                      <a:solidFill>
                        <a:srgbClr val="8FB98A"/>
                      </a:solidFill>
                      <a:prstDash val="solid"/>
                    </a:lnR>
                    <a:lnT w="9525" cmpd="sng">
                      <a:solidFill>
                        <a:srgbClr val="8FB98A"/>
                      </a:solidFill>
                      <a:prstDash val="solid"/>
                    </a:lnT>
                    <a:lnB w="9525" cmpd="sng">
                      <a:solidFill>
                        <a:srgbClr val="8FB98A"/>
                      </a:solidFill>
                      <a:prstDash val="solid"/>
                    </a:lnB>
                    <a:solidFill>
                      <a:srgbClr val="B3D3A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5221F"/>
                          </a:solidFill>
                          <a:latin typeface="Calibri"/>
                          <a:ea typeface="Calibri"/>
                          <a:cs typeface="Calibri"/>
                        </a:rPr>
                        <a:t>U24236631</a:t>
                      </a:r>
                      <a:endParaRPr sz="10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9525" cmpd="sng">
                      <a:solidFill>
                        <a:srgbClr val="8FB98A"/>
                      </a:solidFill>
                      <a:prstDash val="solid"/>
                    </a:lnL>
                    <a:lnR w="9525" cmpd="sng">
                      <a:solidFill>
                        <a:srgbClr val="8FB98A"/>
                      </a:solidFill>
                      <a:prstDash val="solid"/>
                    </a:lnR>
                    <a:lnT w="9525" cmpd="sng">
                      <a:solidFill>
                        <a:srgbClr val="8FB98A"/>
                      </a:solidFill>
                      <a:prstDash val="solid"/>
                    </a:lnT>
                    <a:lnB w="9525" cmpd="sng">
                      <a:solidFill>
                        <a:srgbClr val="8FB98A"/>
                      </a:solidFill>
                      <a:prstDash val="solid"/>
                    </a:lnB>
                    <a:solidFill>
                      <a:srgbClr val="B3D3A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5221F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  <a:endParaRPr sz="10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9525" cmpd="sng">
                      <a:solidFill>
                        <a:srgbClr val="8FB98A"/>
                      </a:solidFill>
                      <a:prstDash val="solid"/>
                    </a:lnL>
                    <a:lnR w="9525" cmpd="sng">
                      <a:solidFill>
                        <a:srgbClr val="8FB98A"/>
                      </a:solidFill>
                      <a:prstDash val="solid"/>
                    </a:lnR>
                    <a:lnT w="9525" cmpd="sng">
                      <a:solidFill>
                        <a:srgbClr val="8FB98A"/>
                      </a:solidFill>
                      <a:prstDash val="solid"/>
                    </a:lnT>
                    <a:lnB w="9525" cmpd="sng">
                      <a:solidFill>
                        <a:srgbClr val="8FB98A"/>
                      </a:solidFill>
                      <a:prstDash val="solid"/>
                    </a:lnB>
                    <a:solidFill>
                      <a:srgbClr val="B3D3A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5221F"/>
                          </a:solidFill>
                          <a:latin typeface="Calibri"/>
                          <a:ea typeface="Calibri"/>
                          <a:cs typeface="Calibri"/>
                        </a:rPr>
                        <a:t>Casana Solano Anthony José</a:t>
                      </a:r>
                      <a:endParaRPr sz="10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9525" cmpd="sng">
                      <a:solidFill>
                        <a:srgbClr val="8FB98A"/>
                      </a:solidFill>
                      <a:prstDash val="solid"/>
                    </a:lnL>
                    <a:lnR w="9525" cmpd="sng">
                      <a:solidFill>
                        <a:srgbClr val="8FB98A"/>
                      </a:solidFill>
                      <a:prstDash val="solid"/>
                    </a:lnR>
                    <a:lnT w="9525" cmpd="sng">
                      <a:solidFill>
                        <a:srgbClr val="8FB98A"/>
                      </a:solidFill>
                      <a:prstDash val="solid"/>
                    </a:lnT>
                    <a:lnB w="9525" cmpd="sng">
                      <a:solidFill>
                        <a:srgbClr val="8FB98A"/>
                      </a:solidFill>
                      <a:prstDash val="solid"/>
                    </a:lnB>
                    <a:solidFill>
                      <a:srgbClr val="B3D3A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5221F"/>
                          </a:solidFill>
                          <a:latin typeface="Calibri"/>
                          <a:ea typeface="Calibri"/>
                          <a:cs typeface="Calibri"/>
                        </a:rPr>
                        <a:t>U23305156</a:t>
                      </a:r>
                      <a:endParaRPr sz="10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9525" cmpd="sng">
                      <a:solidFill>
                        <a:srgbClr val="8FB98A"/>
                      </a:solidFill>
                      <a:prstDash val="solid"/>
                    </a:lnL>
                    <a:lnR w="9525" cmpd="sng">
                      <a:solidFill>
                        <a:srgbClr val="8FB98A"/>
                      </a:solidFill>
                      <a:prstDash val="solid"/>
                    </a:lnR>
                    <a:lnT w="9525" cmpd="sng">
                      <a:solidFill>
                        <a:srgbClr val="8FB98A"/>
                      </a:solidFill>
                      <a:prstDash val="solid"/>
                    </a:lnT>
                    <a:lnB w="9525" cmpd="sng">
                      <a:solidFill>
                        <a:srgbClr val="8FB98A"/>
                      </a:solidFill>
                      <a:prstDash val="solid"/>
                    </a:lnB>
                    <a:solidFill>
                      <a:srgbClr val="B3D3A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5221F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  <a:endParaRPr sz="10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9525" cmpd="sng">
                      <a:solidFill>
                        <a:srgbClr val="8FB98A"/>
                      </a:solidFill>
                      <a:prstDash val="solid"/>
                    </a:lnL>
                    <a:lnR w="9525" cmpd="sng">
                      <a:solidFill>
                        <a:srgbClr val="8FB98A"/>
                      </a:solidFill>
                      <a:prstDash val="solid"/>
                    </a:lnR>
                    <a:lnT w="9525" cmpd="sng">
                      <a:solidFill>
                        <a:srgbClr val="8FB98A"/>
                      </a:solidFill>
                      <a:prstDash val="solid"/>
                    </a:lnT>
                    <a:lnB w="9525" cmpd="sng">
                      <a:solidFill>
                        <a:srgbClr val="8FB98A"/>
                      </a:solidFill>
                      <a:prstDash val="solid"/>
                    </a:lnB>
                    <a:solidFill>
                      <a:srgbClr val="B3D3A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5221F"/>
                          </a:solidFill>
                          <a:latin typeface="Calibri"/>
                          <a:ea typeface="Calibri"/>
                          <a:cs typeface="Calibri"/>
                        </a:rPr>
                        <a:t>Sauñe Rengifo Flavianna Georgette</a:t>
                      </a:r>
                      <a:endParaRPr sz="10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9525" cmpd="sng">
                      <a:solidFill>
                        <a:srgbClr val="8FB98A"/>
                      </a:solidFill>
                      <a:prstDash val="solid"/>
                    </a:lnL>
                    <a:lnR w="9525" cmpd="sng">
                      <a:solidFill>
                        <a:srgbClr val="8FB98A"/>
                      </a:solidFill>
                      <a:prstDash val="solid"/>
                    </a:lnR>
                    <a:lnT w="9525" cmpd="sng">
                      <a:solidFill>
                        <a:srgbClr val="8FB98A"/>
                      </a:solidFill>
                      <a:prstDash val="solid"/>
                    </a:lnT>
                    <a:lnB w="9525" cmpd="sng">
                      <a:solidFill>
                        <a:srgbClr val="8FB98A"/>
                      </a:solidFill>
                      <a:prstDash val="solid"/>
                    </a:lnB>
                    <a:solidFill>
                      <a:srgbClr val="B3D3A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50">
                          <a:solidFill>
                            <a:srgbClr val="15221F"/>
                          </a:solidFill>
                          <a:latin typeface="Calibri"/>
                          <a:ea typeface="Calibri"/>
                          <a:cs typeface="Calibri"/>
                        </a:rPr>
                        <a:t>U22211499</a:t>
                      </a:r>
                      <a:endParaRPr sz="10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9525" cmpd="sng">
                      <a:solidFill>
                        <a:srgbClr val="8FB98A"/>
                      </a:solidFill>
                      <a:prstDash val="solid"/>
                    </a:lnL>
                    <a:lnR w="9525" cmpd="sng">
                      <a:solidFill>
                        <a:srgbClr val="8FB98A"/>
                      </a:solidFill>
                      <a:prstDash val="solid"/>
                    </a:lnR>
                    <a:lnT w="9525" cmpd="sng">
                      <a:solidFill>
                        <a:srgbClr val="8FB98A"/>
                      </a:solidFill>
                      <a:prstDash val="solid"/>
                    </a:lnT>
                    <a:lnB w="9525" cmpd="sng">
                      <a:solidFill>
                        <a:srgbClr val="8FB98A"/>
                      </a:solidFill>
                      <a:prstDash val="solid"/>
                    </a:lnB>
                    <a:solidFill>
                      <a:srgbClr val="B3D3A4"/>
                    </a:solidFill>
                  </a:tcPr>
                </a:tc>
              </a:tr>
            </a:tbl>
          </a:graphicData>
        </a:graphic>
      </p:graphicFrame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2CA9DA13-7B29-4620-88E6-169142BB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4160520"/>
            <a:ext cx="411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300">
                <a:solidFill>
                  <a:srgbClr val="E2A13A"/>
                </a:solidFill>
                <a:latin typeface="Calibri"/>
                <a:ea typeface="Calibri"/>
                <a:cs typeface="Calibri"/>
              </a:rPr>
              <a:t>DOCENTE</a:t>
            </a:r>
            <a:endParaRPr sz="105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E256CBF-3EDE-4350-A0DA-5B5DF274F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4416552"/>
            <a:ext cx="4206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Ronald Angel Ayra Pinto</a:t>
            </a:r>
            <a:endParaRPr sz="16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84256868-4FDB-4CD4-BEE9-4BDA14327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4956048"/>
            <a:ext cx="41148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300">
                <a:solidFill>
                  <a:srgbClr val="E2A13A"/>
                </a:solidFill>
                <a:latin typeface="Calibri"/>
                <a:ea typeface="Calibri"/>
                <a:cs typeface="Calibri"/>
              </a:rPr>
              <a:t>REPOSITORIO DE CÓDIGO</a:t>
            </a:r>
            <a:endParaRPr sz="105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6045CAE-C117-4B36-9DEE-F74B2F89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5212080"/>
            <a:ext cx="42976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7FD1B9"/>
                </a:solidFill>
                <a:latin typeface="Consolas"/>
                <a:ea typeface="Consolas"/>
                <a:cs typeface="Consolas"/>
              </a:rPr>
              <a:t>Repositorio pendiente de publicación</a:t>
            </a:r>
            <a:endParaRPr sz="125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22485F08-BCD9-4277-BD71-951EEB5E3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5870448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A9C9C2"/>
                </a:solidFill>
                <a:latin typeface="Calibri"/>
                <a:ea typeface="Calibri"/>
                <a:cs typeface="Calibri"/>
              </a:rPr>
              <a:t>Lima – Perú · 16/10/2026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3007656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0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27A7D88-87D1-446F-978A-AF652753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9184"/>
            <a:ext cx="1109441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B87B1E"/>
                </a:solidFill>
                <a:latin typeface="Calibri"/>
                <a:ea typeface="Calibri"/>
                <a:cs typeface="Calibri"/>
              </a:rPr>
              <a:t>SECCIÓN I · RESUMEN DEL PROYECTO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3BBD5AF-BB14-4C06-A8F8-71D21127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SaludCerca: resumen y stack tecnológico</a:t>
            </a:r>
            <a:endParaRPr sz="28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EE8ACC4-B3A0-4E26-A602-E218220F6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17320"/>
            <a:ext cx="5257800" cy="283464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29C369B-7A21-4236-BCA7-08CBADA06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002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300">
                <a:solidFill>
                  <a:srgbClr val="B87B1E"/>
                </a:solidFill>
                <a:latin typeface="Calibri"/>
                <a:ea typeface="Calibri"/>
                <a:cs typeface="Calibri"/>
              </a:rPr>
              <a:t>EL PROYECTO</a:t>
            </a:r>
            <a:endParaRPr sz="105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C1389ED-2CA3-4A1E-8BA0-306EFB9B4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20240"/>
            <a:ext cx="4709160" cy="2240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1200"/>
              </a:spcAft>
              <a:buNone/>
            </a:pPr>
            <a:r>
              <a:rPr sz="1400" b="1">
                <a:solidFill>
                  <a:srgbClr val="15221F"/>
                </a:solidFill>
                <a:latin typeface="Calibri"/>
                <a:ea typeface="Calibri"/>
                <a:cs typeface="Calibri"/>
              </a:rPr>
              <a:t>Problema: </a:t>
            </a:r>
            <a:r>
              <a:rPr sz="140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consultorios independientes sin sistema propio; el paciente coordina citas por teléfono o redes, sin historial ni registro de pagos.</a:t>
            </a:r>
            <a:endParaRPr sz="1400"/>
          </a:p>
          <a:p xmlns:a="http://schemas.openxmlformats.org/drawingml/2006/main">
            <a:pPr marL="0" indent="0">
              <a:spcAft>
                <a:spcPts val="1200"/>
              </a:spcAft>
              <a:buNone/>
            </a:pPr>
            <a:r>
              <a:rPr sz="1400" b="1">
                <a:solidFill>
                  <a:srgbClr val="15221F"/>
                </a:solidFill>
                <a:latin typeface="Calibri"/>
                <a:ea typeface="Calibri"/>
                <a:cs typeface="Calibri"/>
              </a:rPr>
              <a:t>Solución: </a:t>
            </a:r>
            <a:r>
              <a:rPr sz="140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SaludCerca conecta pacientes con especialistas para citas presenciales o por teleconsulta, con historial clínico y pago simulado.</a:t>
            </a:r>
            <a:endParaRPr sz="1400"/>
          </a:p>
          <a:p xmlns:a="http://schemas.openxmlformats.org/drawingml/2006/main">
            <a:pPr marL="0" indent="0">
              <a:spcAft>
                <a:spcPts val="1200"/>
              </a:spcAft>
              <a:buNone/>
            </a:pPr>
            <a:r>
              <a:rPr sz="1400" b="1">
                <a:solidFill>
                  <a:srgbClr val="15221F"/>
                </a:solidFill>
                <a:latin typeface="Calibri"/>
                <a:ea typeface="Calibri"/>
                <a:cs typeface="Calibri"/>
              </a:rPr>
              <a:t>Alcance PC2 (50%): </a:t>
            </a:r>
            <a:r>
              <a:rPr sz="140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capa de datos (8 entidades JPA) y 9 patrones GoF implementados y demostrables en vivo.</a:t>
            </a:r>
            <a:endParaRPr sz="14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EEFFCAE-767D-41BE-8C65-ABA835402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34840"/>
            <a:ext cx="1661465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CA9625A-5FE7-47D0-8835-F2A944B0A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26280"/>
            <a:ext cx="166146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600" b="1">
                <a:solidFill>
                  <a:srgbClr val="0F5A51"/>
                </a:solidFill>
                <a:latin typeface="Cambria"/>
                <a:ea typeface="Cambria"/>
                <a:cs typeface="Cambria"/>
              </a:rPr>
              <a:t>8</a:t>
            </a:r>
            <a:endParaRPr sz="36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7107ED1-23AA-4290-B307-D09C8261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212080"/>
            <a:ext cx="1661465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Entidades JPA</a:t>
            </a:r>
            <a:endParaRPr sz="11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6FDFCE7-AE3B-411C-B24C-B17C2661B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265" y="4434840"/>
            <a:ext cx="1661465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3F8D74B-A1F6-471A-865A-0405C032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265" y="4526280"/>
            <a:ext cx="166146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600" b="1">
                <a:solidFill>
                  <a:srgbClr val="B87B1E"/>
                </a:solidFill>
                <a:latin typeface="Cambria"/>
                <a:ea typeface="Cambria"/>
                <a:cs typeface="Cambria"/>
              </a:rPr>
              <a:t>9</a:t>
            </a:r>
            <a:endParaRPr sz="3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65C1A7D-E0A4-4CF8-BAE2-04D32080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265" y="5212080"/>
            <a:ext cx="1661465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Patrones GoF</a:t>
            </a:r>
            <a:endParaRPr sz="11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DE1A30DB-0C1B-460A-A827-8AEC17EA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5890" y="4434840"/>
            <a:ext cx="1661465" cy="1234440"/>
          </a:xfrm>
          <a:prstGeom xmlns:a="http://schemas.openxmlformats.org/drawingml/2006/main" prst="roundRect">
            <a:avLst>
              <a:gd name="adj" fmla="val 59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574C1DA8-ED45-4B75-89F7-F250C742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5890" y="4526280"/>
            <a:ext cx="1661465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600" b="1">
                <a:solidFill>
                  <a:srgbClr val="5B4A89"/>
                </a:solidFill>
                <a:latin typeface="Cambria"/>
                <a:ea typeface="Cambria"/>
                <a:cs typeface="Cambria"/>
              </a:rPr>
              <a:t>4</a:t>
            </a:r>
            <a:endParaRPr sz="36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F7797AF-02BD-4994-848A-23FD292B4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5890" y="5212080"/>
            <a:ext cx="1661465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Capas (MVC)</a:t>
            </a:r>
            <a:endParaRPr sz="11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86D53A2-F775-442F-89EB-4958BD0FD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146304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300">
                <a:solidFill>
                  <a:srgbClr val="B87B1E"/>
                </a:solidFill>
                <a:latin typeface="Calibri"/>
                <a:ea typeface="Calibri"/>
                <a:cs typeface="Calibri"/>
              </a:rPr>
              <a:t>STACK TECNOLÓGICO</a:t>
            </a:r>
            <a:endParaRPr sz="105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B263FA0-3E49-463E-9BC7-D9408AC4C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1783080"/>
            <a:ext cx="2712568" cy="896112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839BFBDC-97F0-4483-A7F1-A9D1F9165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5352" y="1956816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5A51"/>
          </a:solidFill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1F37492-1B7B-428C-829E-42DE9A37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5352" y="1956816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</a:t>
            </a:r>
            <a:endParaRPr sz="14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6A13F20-56C6-4ADA-B5A2-3C7F0BE81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1920240"/>
            <a:ext cx="17798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Java 21</a:t>
            </a:r>
            <a:endParaRPr sz="13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64A3AB6-B2F2-4CC0-93A4-D98E50DA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2258568"/>
            <a:ext cx="1779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Lenguaje orientado a objetos</a:t>
            </a:r>
            <a:endParaRPr sz="10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5D750CD7-4BC3-4F25-B44D-19470E3C2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0488" y="1783080"/>
            <a:ext cx="2712568" cy="896112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736AD4CB-4B9B-4091-A91E-4ABC2BC4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5080" y="1956816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4A89"/>
          </a:solidFill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5A6E965B-C25F-43B1-8C71-A1FB111B3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5080" y="1956816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SB</a:t>
            </a:r>
            <a:endParaRPr sz="14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06EF114B-71AC-4781-824B-27545E37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1736" y="1920240"/>
            <a:ext cx="17798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Spring Boot 4.1.1</a:t>
            </a:r>
            <a:endParaRPr sz="13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163A2538-67CC-40BF-A3AA-5499B1B36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1736" y="2258568"/>
            <a:ext cx="1779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Framework web (Spring MVC)</a:t>
            </a:r>
            <a:endParaRPr sz="105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26359A26-B0D8-486C-93DB-DADA89768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807208"/>
            <a:ext cx="2712568" cy="896112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C44F9907-FA6F-4BF4-882B-236D2C09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5352" y="2980944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B1E"/>
          </a:solidFill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8C4093D8-5CC2-4D12-961D-E9B72A906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5352" y="2980944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JPA</a:t>
            </a:r>
            <a:endParaRPr sz="11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8CE21E23-F622-4797-B056-1B4555B9E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2944368"/>
            <a:ext cx="17798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Spring Data JPA</a:t>
            </a:r>
            <a:endParaRPr sz="13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CC3C865E-EAB6-4324-A31D-83A967DD1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3282696"/>
            <a:ext cx="1779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ORM con Hibernate</a:t>
            </a:r>
            <a:endParaRPr sz="105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7BC629FA-1DCC-4751-A12C-620AB060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0488" y="2807208"/>
            <a:ext cx="2712568" cy="896112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189DFCDA-CF76-4E3F-A19C-9213DF3C0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5080" y="2980944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5A51"/>
          </a:solidFill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CAE85185-DE72-4773-9AEC-FFB5FE9A5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5080" y="2980944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DB</a:t>
            </a:r>
            <a:endParaRPr sz="14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B373C5C9-4B36-458D-BFC2-20129D000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1736" y="2944368"/>
            <a:ext cx="17798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MySQL / MariaDB</a:t>
            </a:r>
            <a:endParaRPr sz="130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ABDBAAF9-4914-484D-9D33-F8BAD958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1736" y="3282696"/>
            <a:ext cx="1779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Base de datos (XAMPP)</a:t>
            </a:r>
            <a:endParaRPr sz="1050"/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324A8000-42BB-41F5-9E6A-73E115EC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3831336"/>
            <a:ext cx="2712568" cy="896112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68285253-D6A3-4FCF-90F5-7C2F7C57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5352" y="4005072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4A89"/>
          </a:solidFill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B8648C75-6005-466F-8647-9C6D61ADE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5352" y="400507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</a:t>
            </a:r>
            <a:endParaRPr sz="1400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5FFBEE60-C237-421D-B1B2-6A778E568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3968496"/>
            <a:ext cx="17798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Thymeleaf</a:t>
            </a:r>
            <a:endParaRPr sz="1300"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ABCFB525-9D32-41E8-BC29-DCA11B19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008" y="4306824"/>
            <a:ext cx="1779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Vistas del sistema</a:t>
            </a:r>
            <a:endParaRPr sz="105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DB7EA366-2538-47ED-9CF7-CD12BB665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0488" y="3831336"/>
            <a:ext cx="2712568" cy="896112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7111EF2F-AC4D-40F4-AB7E-3F6E713E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5080" y="4005072"/>
            <a:ext cx="548640" cy="548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B1E"/>
          </a:solidFill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7A8A1C4F-EEEC-453A-A9EE-083AFD91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5080" y="4005072"/>
            <a:ext cx="5486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</a:t>
            </a:r>
            <a:endParaRPr sz="1400"/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ACB5646E-7D84-4D04-8291-08C4FF143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1736" y="3968496"/>
            <a:ext cx="17798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Maven (mvnw)</a:t>
            </a:r>
            <a:endParaRPr sz="1300"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61D3D211-FE4C-4A2B-846B-E97AE5E4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1736" y="4306824"/>
            <a:ext cx="1779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Construcción y dependencias</a:t>
            </a:r>
            <a:endParaRPr sz="1050"/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452BEAC3-2504-4EEF-8BF5-693A2ED65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4956048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300">
                <a:solidFill>
                  <a:srgbClr val="B87B1E"/>
                </a:solidFill>
                <a:latin typeface="Calibri"/>
                <a:ea typeface="Calibri"/>
                <a:cs typeface="Calibri"/>
              </a:rPr>
              <a:t>ARQUITECTURA EN CAPAS (MVC)</a:t>
            </a:r>
            <a:endParaRPr sz="1050"/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F3E9877C-4553-41FA-B460-E6995E60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5285232"/>
            <a:ext cx="1143000" cy="585216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0F5A51"/>
          </a:solidFill>
        </p:spPr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26F2ED9C-4028-4EF8-962D-30ACD5DE5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5285232"/>
            <a:ext cx="114300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Controladores web</a:t>
            </a:r>
            <a:endParaRPr sz="1050"/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0445CA63-3C6D-4438-A7D8-C3A08752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9081" y="5477256"/>
            <a:ext cx="219456" cy="20116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2A13A"/>
          </a:solidFill>
        </p:spPr>
      </p:sp>
      <p:sp>
        <p:nvSpPr>
          <p:cNvPr id="51" name="Shape 49">
            <a:extLst xmlns:a="http://schemas.openxmlformats.org/drawingml/2006/main">
              <a:ext uri="{FF2B5EF4-FFF2-40B4-BE49-F238E27FC236}">
                <a16:creationId xmlns:a16="http://schemas.microsoft.com/office/drawing/2014/main" id="{B585993C-EF6C-4BA3-BABC-C55FD3911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858" y="5285232"/>
            <a:ext cx="1143000" cy="585216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0F5A51"/>
          </a:solidFill>
        </p:spPr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B27291AC-2CE5-4D31-88C3-D8539ECD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858" y="5285232"/>
            <a:ext cx="114300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Patrones / Servicios</a:t>
            </a:r>
            <a:endParaRPr sz="1050"/>
          </a:p>
        </p:txBody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D4D3568C-70E8-4F98-9A7A-213E7FB0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2180" y="5477256"/>
            <a:ext cx="219456" cy="20116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2A13A"/>
          </a:solidFill>
        </p:spPr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0B6B0FA9-32F8-4244-9088-96D7DF61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6957" y="5285232"/>
            <a:ext cx="1143000" cy="585216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0F5A51"/>
          </a:solidFill>
        </p:spPr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131D8421-2155-4773-B742-0BE30B453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6957" y="5285232"/>
            <a:ext cx="114300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Repositorios JPA</a:t>
            </a:r>
            <a:endParaRPr sz="1050"/>
          </a:p>
        </p:txBody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9EAF3CBB-4994-4C16-90B7-F301B92D5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5278" y="5477256"/>
            <a:ext cx="219456" cy="20116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2A13A"/>
          </a:solidFill>
        </p:spPr>
      </p:sp>
      <p:sp>
        <p:nvSpPr>
          <p:cNvPr id="57" name="Shape 55">
            <a:extLst xmlns:a="http://schemas.openxmlformats.org/drawingml/2006/main">
              <a:ext uri="{FF2B5EF4-FFF2-40B4-BE49-F238E27FC236}">
                <a16:creationId xmlns:a16="http://schemas.microsoft.com/office/drawing/2014/main" id="{4A4B6063-2008-4B9D-94CC-D1CE236F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0055" y="5285232"/>
            <a:ext cx="1143000" cy="585216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B87B1E"/>
          </a:solidFill>
        </p:spPr>
      </p:sp>
      <p:sp>
        <p:nvSpPr>
          <p:cNvPr id="58" name="Text 56">
            <a:extLst xmlns:a="http://schemas.openxmlformats.org/drawingml/2006/main">
              <a:ext uri="{FF2B5EF4-FFF2-40B4-BE49-F238E27FC236}">
                <a16:creationId xmlns:a16="http://schemas.microsoft.com/office/drawing/2014/main" id="{AE34AEA8-679C-4F1F-9E38-D7BD1A9F2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0055" y="5285232"/>
            <a:ext cx="114300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MySQL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40503648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0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CB10260-03CF-44B8-8C5D-767831BD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9184"/>
            <a:ext cx="1109441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B87B1E"/>
                </a:solidFill>
                <a:latin typeface="Calibri"/>
                <a:ea typeface="Calibri"/>
                <a:cs typeface="Calibri"/>
              </a:rPr>
              <a:t>SECCIÓN II · PATRONES CREACIONALES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314ECA6-25BC-49C8-BB92-E9E139986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Arquitectura de patrones creacionales</a:t>
            </a:r>
            <a:endParaRPr sz="28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AACEE85-D7E1-4221-A949-F374C0FAA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61872"/>
            <a:ext cx="3600602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877852D-A14B-4EC5-A3A8-15217169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3312"/>
            <a:ext cx="332628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Singleton</a:t>
            </a:r>
            <a:r>
              <a:rPr sz="9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   Configuración central</a:t>
            </a:r>
            <a:endParaRPr sz="1300"/>
          </a:p>
        </p:txBody>
      </p:sp>
      <p:pic>
        <p:nvPicPr>
          <p:cNvPr id="6" name="Image 0">
            <a:extLst xmlns:a="http://schemas.openxmlformats.org/drawingml/2006/main">
              <a:ext uri="{FF2B5EF4-FFF2-40B4-BE49-F238E27FC236}">
                <a16:creationId xmlns:a16="http://schemas.microsoft.com/office/drawing/2014/main" id="{014D1AF2-F5E8-4F27-BE4F-01AC3183D6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5fa70ba97344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93747" y="1700784"/>
            <a:ext cx="2510389" cy="1956816"/>
          </a:xfrm>
          <a:prstGeom xmlns:a="http://schemas.openxmlformats.org/drawingml/2006/main" prst="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2BAFA72C-BABA-45D7-8427-775C5E8C5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546" y="1261872"/>
            <a:ext cx="3600602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139B5011-FFD2-49EB-BD3F-28FBB962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2706" y="1353312"/>
            <a:ext cx="332628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Factory Method</a:t>
            </a:r>
            <a:r>
              <a:rPr sz="9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   Canal de notificación</a:t>
            </a:r>
            <a:endParaRPr sz="1300"/>
          </a:p>
        </p:txBody>
      </p:sp>
      <p:pic>
        <p:nvPicPr>
          <p:cNvPr id="9" name="Image 1">
            <a:extLst xmlns:a="http://schemas.openxmlformats.org/drawingml/2006/main">
              <a:ext uri="{FF2B5EF4-FFF2-40B4-BE49-F238E27FC236}">
                <a16:creationId xmlns:a16="http://schemas.microsoft.com/office/drawing/2014/main" id="{52E29584-D1B3-41AE-A37C-290F55A363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a7c2fcc0ea4b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84722" y="1700784"/>
            <a:ext cx="2022251" cy="1956816"/>
          </a:xfrm>
          <a:prstGeom xmlns:a="http://schemas.openxmlformats.org/drawingml/2006/main" prst="rect">
            <a:avLst/>
          </a:prstGeom>
        </p:spPr>
      </p:pic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1EDF51AF-093B-4D66-81B5-409D5864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453" y="1261872"/>
            <a:ext cx="3600602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5364AA31-50AC-4B0D-B6D8-A6895BB23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9613" y="1353312"/>
            <a:ext cx="332628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Prototype</a:t>
            </a:r>
            <a:r>
              <a:rPr sz="9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   Clonar plantillas de historial</a:t>
            </a:r>
            <a:endParaRPr sz="1300"/>
          </a:p>
        </p:txBody>
      </p:sp>
      <p:pic>
        <p:nvPicPr>
          <p:cNvPr id="12" name="Image 2">
            <a:extLst xmlns:a="http://schemas.openxmlformats.org/drawingml/2006/main">
              <a:ext uri="{FF2B5EF4-FFF2-40B4-BE49-F238E27FC236}">
                <a16:creationId xmlns:a16="http://schemas.microsoft.com/office/drawing/2014/main" id="{94A1C341-32E9-4B88-8DC4-5EAA000372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67d9a534a247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80795" y="1700784"/>
            <a:ext cx="1323918" cy="1956816"/>
          </a:xfrm>
          <a:prstGeom xmlns:a="http://schemas.openxmlformats.org/drawingml/2006/main" prst="rect">
            <a:avLst/>
          </a:prstGeom>
        </p:spPr>
      </p:pic>
      <p:sp>
        <p:nvSpPr>
          <p:cNvPr id="13" name="Shape 8">
            <a:extLst xmlns:a="http://schemas.openxmlformats.org/drawingml/2006/main">
              <a:ext uri="{FF2B5EF4-FFF2-40B4-BE49-F238E27FC236}">
                <a16:creationId xmlns:a16="http://schemas.microsoft.com/office/drawing/2014/main" id="{CA57E1E0-F09C-42C6-9CED-4E9007D8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95344"/>
            <a:ext cx="5474056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256F2A02-5D88-4B76-82AE-35D3AB08F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6784"/>
            <a:ext cx="519973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Abstract Factory</a:t>
            </a:r>
            <a:r>
              <a:rPr sz="9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   Familias de comprobantes (Boleta / Recibo)</a:t>
            </a:r>
            <a:endParaRPr sz="1300"/>
          </a:p>
        </p:txBody>
      </p:sp>
      <p:pic>
        <p:nvPicPr>
          <p:cNvPr id="15" name="Image 3">
            <a:extLst xmlns:a="http://schemas.openxmlformats.org/drawingml/2006/main">
              <a:ext uri="{FF2B5EF4-FFF2-40B4-BE49-F238E27FC236}">
                <a16:creationId xmlns:a16="http://schemas.microsoft.com/office/drawing/2014/main" id="{A308CF0D-03D8-4EFA-9855-BDD1566814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921a57e78746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779654" y="4334256"/>
            <a:ext cx="3012027" cy="1956816"/>
          </a:xfrm>
          <a:prstGeom xmlns:a="http://schemas.openxmlformats.org/drawingml/2006/main" prst="rect">
            <a:avLst/>
          </a:prstGeom>
        </p:spPr>
      </p:pic>
      <p:sp>
        <p:nvSpPr>
          <p:cNvPr id="16" name="Shape 10">
            <a:extLst xmlns:a="http://schemas.openxmlformats.org/drawingml/2006/main">
              <a:ext uri="{FF2B5EF4-FFF2-40B4-BE49-F238E27FC236}">
                <a16:creationId xmlns:a16="http://schemas.microsoft.com/office/drawing/2014/main" id="{7B0FD130-BC98-4A6D-B5AE-E024C502E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9000" y="3895344"/>
            <a:ext cx="5474056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17" name="Text 11">
            <a:extLst xmlns:a="http://schemas.openxmlformats.org/drawingml/2006/main">
              <a:ext uri="{FF2B5EF4-FFF2-40B4-BE49-F238E27FC236}">
                <a16:creationId xmlns:a16="http://schemas.microsoft.com/office/drawing/2014/main" id="{96D21C31-D543-479E-A795-E145E422B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6160" y="3986784"/>
            <a:ext cx="519973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Builder</a:t>
            </a:r>
            <a:r>
              <a:rPr sz="9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   Reporte de atenciones paso a paso</a:t>
            </a:r>
            <a:endParaRPr sz="1300"/>
          </a:p>
        </p:txBody>
      </p:sp>
      <p:pic>
        <p:nvPicPr>
          <p:cNvPr id="18" name="Image 4">
            <a:extLst xmlns:a="http://schemas.openxmlformats.org/drawingml/2006/main">
              <a:ext uri="{FF2B5EF4-FFF2-40B4-BE49-F238E27FC236}">
                <a16:creationId xmlns:a16="http://schemas.microsoft.com/office/drawing/2014/main" id="{A90BB4C8-6DCC-4019-9929-699365B369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5546a09f7248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55235" y="4334256"/>
            <a:ext cx="1501585" cy="195681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829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0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D7DF92A-7F80-4FD2-8B1A-B45668E7E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9184"/>
            <a:ext cx="1109441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B87B1E"/>
                </a:solidFill>
                <a:latin typeface="Calibri"/>
                <a:ea typeface="Calibri"/>
                <a:cs typeface="Calibri"/>
              </a:rPr>
              <a:t>SECCIÓN II · PATRONES ESTRUCTURALES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96E2C33-97B7-4792-884F-35561E65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Arquitectura de patrones estructurales</a:t>
            </a:r>
            <a:endParaRPr sz="28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481AD10-A408-471D-A3B7-EC907BDF0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61872"/>
            <a:ext cx="3600602" cy="301752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7D88163-096A-4684-A9BF-FC078D00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3312"/>
            <a:ext cx="332628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Adapter</a:t>
            </a:r>
            <a:r>
              <a:rPr sz="9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   </a:t>
            </a:r>
            <a:r>
              <a:rPr sz="9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Validación de DNI simulada</a:t>
            </a:r>
            <a:endParaRPr sz="1300"/>
          </a:p>
        </p:txBody>
      </p:sp>
      <p:pic>
        <p:nvPicPr>
          <p:cNvPr id="6" name="Image 0">
            <a:extLst xmlns:a="http://schemas.openxmlformats.org/drawingml/2006/main">
              <a:ext uri="{FF2B5EF4-FFF2-40B4-BE49-F238E27FC236}">
                <a16:creationId xmlns:a16="http://schemas.microsoft.com/office/drawing/2014/main" id="{86F426AB-19FF-4D95-99C2-1CE1480CF2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c65ef4c06046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86205" y="1700784"/>
            <a:ext cx="1725473" cy="2487168"/>
          </a:xfrm>
          <a:prstGeom xmlns:a="http://schemas.openxmlformats.org/drawingml/2006/main" prst="rect">
            <a:avLst/>
          </a:prstGeom>
        </p:spPr>
      </p:pic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1FBE0DB0-935B-493A-89D4-EA482F4EB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546" y="1261872"/>
            <a:ext cx="3600602" cy="301752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94E25E24-B55E-4745-92B3-16E9A0D5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2706" y="1353312"/>
            <a:ext cx="332628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Decorator</a:t>
            </a:r>
            <a:r>
              <a:rPr sz="9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   Costo de consulta con añadidos</a:t>
            </a:r>
            <a:endParaRPr sz="1300"/>
          </a:p>
        </p:txBody>
      </p:sp>
      <p:pic>
        <p:nvPicPr>
          <p:cNvPr id="9" name="Image 1">
            <a:extLst xmlns:a="http://schemas.openxmlformats.org/drawingml/2006/main">
              <a:ext uri="{FF2B5EF4-FFF2-40B4-BE49-F238E27FC236}">
                <a16:creationId xmlns:a16="http://schemas.microsoft.com/office/drawing/2014/main" id="{2391670A-43AB-4B46-B309-C700E5B944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17e26317d644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78255" y="1700784"/>
            <a:ext cx="2435185" cy="2487168"/>
          </a:xfrm>
          <a:prstGeom xmlns:a="http://schemas.openxmlformats.org/drawingml/2006/main" prst="rect">
            <a:avLst/>
          </a:prstGeom>
        </p:spPr>
      </p:pic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86D65FF-E44F-4846-B0C0-07EBE7C6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453" y="1261872"/>
            <a:ext cx="3600602" cy="301752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94FC141-38F9-45A4-A72C-1888B6860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9613" y="1353312"/>
            <a:ext cx="332628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Composite</a:t>
            </a:r>
            <a:r>
              <a:rPr sz="9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   Paquetes y combos de servicios</a:t>
            </a:r>
            <a:endParaRPr sz="1300"/>
          </a:p>
        </p:txBody>
      </p:sp>
      <p:pic>
        <p:nvPicPr>
          <p:cNvPr id="12" name="Image 2">
            <a:extLst xmlns:a="http://schemas.openxmlformats.org/drawingml/2006/main">
              <a:ext uri="{FF2B5EF4-FFF2-40B4-BE49-F238E27FC236}">
                <a16:creationId xmlns:a16="http://schemas.microsoft.com/office/drawing/2014/main" id="{39F07A8B-95C5-48F1-8B40-10D488CF3A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fb9ebd74a048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73293" y="1700784"/>
            <a:ext cx="1938921" cy="2487168"/>
          </a:xfrm>
          <a:prstGeom xmlns:a="http://schemas.openxmlformats.org/drawingml/2006/main" prst="rect">
            <a:avLst/>
          </a:prstGeom>
        </p:spPr>
      </p:pic>
      <p:sp>
        <p:nvSpPr>
          <p:cNvPr id="13" name="Shape 8">
            <a:extLst xmlns:a="http://schemas.openxmlformats.org/drawingml/2006/main">
              <a:ext uri="{FF2B5EF4-FFF2-40B4-BE49-F238E27FC236}">
                <a16:creationId xmlns:a16="http://schemas.microsoft.com/office/drawing/2014/main" id="{F8AB0BD9-C127-4972-9FD9-7DCE85B80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25696"/>
            <a:ext cx="11094415" cy="1956816"/>
          </a:xfrm>
          <a:prstGeom xmlns:a="http://schemas.openxmlformats.org/drawingml/2006/main" prst="roundRect">
            <a:avLst>
              <a:gd name="adj" fmla="val 37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782FFCB5-5951-473E-9CBC-31EC38310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7136"/>
            <a:ext cx="1082009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Facade</a:t>
            </a:r>
            <a:r>
              <a:rPr sz="9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   AgendamientoFacade — pieza central del agendamiento</a:t>
            </a:r>
            <a:endParaRPr sz="1300"/>
          </a:p>
        </p:txBody>
      </p:sp>
      <p:pic>
        <p:nvPicPr>
          <p:cNvPr id="15" name="Image 3">
            <a:extLst xmlns:a="http://schemas.openxmlformats.org/drawingml/2006/main">
              <a:ext uri="{FF2B5EF4-FFF2-40B4-BE49-F238E27FC236}">
                <a16:creationId xmlns:a16="http://schemas.microsoft.com/office/drawing/2014/main" id="{B7CD99FE-6362-4F0A-A822-C5708E6CD18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289c08af424a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4864608"/>
            <a:ext cx="6354249" cy="1426464"/>
          </a:xfrm>
          <a:prstGeom xmlns:a="http://schemas.openxmlformats.org/drawingml/2006/main" prst="rect">
            <a:avLst/>
          </a:prstGeom>
        </p:spPr>
      </p:pic>
      <p:sp>
        <p:nvSpPr>
          <p:cNvPr id="16" name="Text 10">
            <a:extLst xmlns:a="http://schemas.openxmlformats.org/drawingml/2006/main">
              <a:ext uri="{FF2B5EF4-FFF2-40B4-BE49-F238E27FC236}">
                <a16:creationId xmlns:a16="http://schemas.microsoft.com/office/drawing/2014/main" id="{CAB2D34E-7BC4-4668-8AAF-DC133FD4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928616"/>
            <a:ext cx="3916375" cy="13167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5221F"/>
                </a:solidFill>
                <a:latin typeface="Calibri"/>
                <a:ea typeface="Calibri"/>
                <a:cs typeface="Calibri"/>
              </a:rPr>
              <a:t>Una sola llamada </a:t>
            </a:r>
            <a:r>
              <a:rPr sz="1200" b="1">
                <a:solidFill>
                  <a:srgbClr val="0F5A51"/>
                </a:solidFill>
                <a:latin typeface="Consolas"/>
                <a:ea typeface="Consolas"/>
                <a:cs typeface="Consolas"/>
              </a:rPr>
              <a:t>agendarCita(...)</a:t>
            </a:r>
            <a:r>
              <a:rPr sz="120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 coordina: validación del médico, disponibilidad, cita + enlace de video, pago y notificación (reutiliza el Factory Method).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9174060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0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69663A0-06F0-414C-AF41-853F93BA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9184"/>
            <a:ext cx="1109441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B87B1E"/>
                </a:solidFill>
                <a:latin typeface="Calibri"/>
                <a:ea typeface="Calibri"/>
                <a:cs typeface="Calibri"/>
              </a:rPr>
              <a:t>DEMO EN VIVO · 1/2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4B5A54A-E037-42AD-878E-3666A3D5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Patrones creacionales en ejecución</a:t>
            </a:r>
            <a:endParaRPr sz="28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3BC8DF0-94A2-4F17-A560-A04C2FD06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98448"/>
            <a:ext cx="5532120" cy="896112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802CE0BF-01B0-4F4F-802C-91EE5266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51790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5A51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F61FD1D-EE79-4F83-8F0C-D661A3FD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517904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  <a:endParaRPr sz="1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7F38B60-31A4-4126-9E84-DFC8917DF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380744"/>
            <a:ext cx="4617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Singleton</a:t>
            </a:r>
            <a:endParaRPr sz="13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F5AEA250-FF96-41AF-973D-F909DE56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664208"/>
            <a:ext cx="4617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F5A51"/>
                </a:solidFill>
                <a:latin typeface="Consolas"/>
                <a:ea typeface="Consolas"/>
                <a:cs typeface="Consolas"/>
              </a:rPr>
              <a:t>/demo/singleton</a:t>
            </a:r>
            <a:endParaRPr sz="10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3E5A86C5-9DAD-41F8-92D2-1C2194DC7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865376"/>
            <a:ext cx="4617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Dos llamadas a getInstance() devuelven el mismo objeto.</a:t>
            </a:r>
            <a:endParaRPr sz="10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6338EB7-8D59-46D2-BA96-E202A43C7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86000"/>
            <a:ext cx="5532120" cy="896112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B065245A-9293-47B9-888D-2F8EE5447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505456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4A89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E7695A9-2168-41F5-B174-82C273BED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505456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B16A8CF-1CF0-498F-AA48-CDD8B0072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368296"/>
            <a:ext cx="4617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Factory Method</a:t>
            </a:r>
            <a:endParaRPr sz="13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F9C0B28-E631-4F1A-A1FF-C75CE1A7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651760"/>
            <a:ext cx="4617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F5A51"/>
                </a:solidFill>
                <a:latin typeface="Consolas"/>
                <a:ea typeface="Consolas"/>
                <a:cs typeface="Consolas"/>
              </a:rPr>
              <a:t>/demo/factory-method?tipo=sms</a:t>
            </a:r>
            <a:endParaRPr sz="1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552F060-943A-4D2D-B108-74C0AFF0F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852928"/>
            <a:ext cx="4617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tipo=email o sms: el creador elige el canal simulado.</a:t>
            </a:r>
            <a:endParaRPr sz="10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58787B04-266E-4242-93FD-59E3B3538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73552"/>
            <a:ext cx="5532120" cy="896112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F3B2618B-55E4-4BA9-B3AD-62B0F5856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493008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B1E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3714939-58BE-4153-87B3-0A57FE254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493008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  <a:endParaRPr sz="14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32C0FA9-06DF-494F-B7C3-DC3AD251F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355848"/>
            <a:ext cx="4617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Prototype</a:t>
            </a:r>
            <a:endParaRPr sz="13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1C683491-C89B-4E21-AF7A-EA976998D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39312"/>
            <a:ext cx="4617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F5A51"/>
                </a:solidFill>
                <a:latin typeface="Consolas"/>
                <a:ea typeface="Consolas"/>
                <a:cs typeface="Consolas"/>
              </a:rPr>
              <a:t>/demo/prototype?clave=nutricion</a:t>
            </a:r>
            <a:endParaRPr sz="10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8197DC81-45FF-4058-B520-FFF655E32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840480"/>
            <a:ext cx="4617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Un clon modificado y otro intacto: copias independientes.</a:t>
            </a:r>
            <a:endParaRPr sz="10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1B84DDC1-5B4D-45D1-9FC2-D68D67CBF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61104"/>
            <a:ext cx="5532120" cy="896112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28C2505D-0A58-4FB1-B245-DAA65AFBD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48056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5A51"/>
          </a:solidFill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09C3C227-2890-4008-A7D9-8E1538BEB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48056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</a:t>
            </a:r>
            <a:endParaRPr sz="14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735457B-EF1B-4A08-9C2E-EDC9D14E8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343400"/>
            <a:ext cx="4617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Abstract Factory</a:t>
            </a:r>
            <a:endParaRPr sz="135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1D6AC4B7-5E7B-4994-B00F-52E0800B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626864"/>
            <a:ext cx="4617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F5A51"/>
                </a:solidFill>
                <a:latin typeface="Consolas"/>
                <a:ea typeface="Consolas"/>
                <a:cs typeface="Consolas"/>
              </a:rPr>
              <a:t>/demo/abstract-factory?tipo=boleta&amp;monto=120</a:t>
            </a:r>
            <a:endParaRPr sz="10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51017CCE-8085-4F5A-8BCE-F951FD15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828032"/>
            <a:ext cx="4617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Boleta con IGV; con tipo=recibo se crea otra familia.</a:t>
            </a:r>
            <a:endParaRPr sz="10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4AA36EDA-6DCC-48DB-8935-E4BF06A97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248656"/>
            <a:ext cx="5532120" cy="896112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91D62C09-6EC1-444B-9517-9673650DA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468112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4A89"/>
          </a:solidFill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822C9E93-4E00-4405-B19A-2A2B14018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46811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5</a:t>
            </a:r>
            <a:endParaRPr sz="14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829AD23B-BCF1-4C4A-A593-B8CD60216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330952"/>
            <a:ext cx="4617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Builder</a:t>
            </a:r>
            <a:endParaRPr sz="135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A212980A-32CC-414C-AF67-F3EF0385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614416"/>
            <a:ext cx="4617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F5A51"/>
                </a:solidFill>
                <a:latin typeface="Consolas"/>
                <a:ea typeface="Consolas"/>
                <a:cs typeface="Consolas"/>
              </a:rPr>
              <a:t>/demo/builder</a:t>
            </a:r>
            <a:endParaRPr sz="100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BD968494-76AB-4008-A59D-37F7A9D75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815584"/>
            <a:ext cx="4617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Reporte armado paso a paso con datos reales de la BD.</a:t>
            </a:r>
            <a:endParaRPr sz="105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62B80BCF-1CC2-47E2-AD24-6B0204A8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298448"/>
            <a:ext cx="5287975" cy="4160520"/>
          </a:xfrm>
          <a:prstGeom xmlns:a="http://schemas.openxmlformats.org/drawingml/2006/main" prst="roundRect">
            <a:avLst>
              <a:gd name="adj" fmla="val 1758"/>
            </a:avLst>
          </a:prstGeom>
          <a:solidFill xmlns:a="http://schemas.openxmlformats.org/drawingml/2006/main">
            <a:srgbClr val="1E3A36"/>
          </a:solidFill>
        </p:spPr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AE5BFBF1-2E34-4440-9FB5-D01201C98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1435608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6D5A"/>
          </a:solidFill>
        </p:spPr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A72FB24D-D3EA-46CC-BBCC-8BCA2191A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552" y="1435608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A13A"/>
          </a:solidFill>
        </p:spPr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A2620260-7FD5-4BD9-8A43-96ADA9B43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5432" y="1435608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B49C"/>
          </a:solidFill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0DAC990E-5733-42C3-BED5-52CA95CE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371600"/>
            <a:ext cx="437357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BFD3CD"/>
                </a:solidFill>
                <a:latin typeface="Consolas"/>
                <a:ea typeface="Consolas"/>
                <a:cs typeface="Consolas"/>
              </a:rPr>
              <a:t>localhost:8082/demo/abstract-factory?tipo=boleta&amp;monto=120</a:t>
            </a:r>
            <a:endParaRPr sz="950"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6EDB6C81-04D5-4845-B659-6648419B0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1682496"/>
            <a:ext cx="5178247" cy="3721608"/>
          </a:xfrm>
          <a:prstGeom xmlns:a="http://schemas.openxmlformats.org/drawingml/2006/main" prst="roundRect">
            <a:avLst>
              <a:gd name="adj" fmla="val 1474"/>
            </a:avLst>
          </a:prstGeom>
          <a:solidFill xmlns:a="http://schemas.openxmlformats.org/drawingml/2006/main">
            <a:srgbClr val="0F2623"/>
          </a:solidFill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83806D2D-CFE7-45E1-BE9D-1D1998AA3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865376"/>
            <a:ext cx="4739335" cy="3429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 b="1">
                <a:solidFill>
                  <a:srgbClr val="7FD1B9"/>
                </a:solidFill>
                <a:latin typeface="Consolas"/>
                <a:ea typeface="Consolas"/>
                <a:cs typeface="Consolas"/>
              </a:rPr>
              <a:t>PATRÓN ABSTRACT FACTORY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7FD1B9"/>
                </a:solidFill>
                <a:latin typeface="Consolas"/>
                <a:ea typeface="Consolas"/>
                <a:cs typeface="Consolas"/>
              </a:rPr>
              <a:t>=======================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E6F2EE"/>
                </a:solidFill>
                <a:latin typeface="Consolas"/>
                <a:ea typeface="Consolas"/>
                <a:cs typeface="Consolas"/>
              </a:rPr>
              <a:t>Familia: BoletaFactory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E6F2EE"/>
                </a:solidFill>
                <a:latin typeface="Consolas"/>
                <a:ea typeface="Consolas"/>
                <a:cs typeface="Consolas"/>
              </a:rPr>
              <a:t>--------------------------------------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 b="1">
                <a:solidFill>
                  <a:srgbClr val="E6F2EE"/>
                </a:solidFill>
                <a:latin typeface="Consolas"/>
                <a:ea typeface="Consolas"/>
                <a:cs typeface="Consolas"/>
              </a:rPr>
              <a:t>BOLETA DE VENTA ELECTRÓNICA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E6F2EE"/>
                </a:solidFill>
                <a:latin typeface="Consolas"/>
                <a:ea typeface="Consolas"/>
                <a:cs typeface="Consolas"/>
              </a:rPr>
              <a:t>Serie: B001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E6F2EE"/>
                </a:solidFill>
                <a:latin typeface="Consolas"/>
                <a:ea typeface="Consolas"/>
                <a:cs typeface="Consolas"/>
              </a:rPr>
              <a:t>Cliente : Karla Effio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E6F2EE"/>
                </a:solidFill>
                <a:latin typeface="Consolas"/>
                <a:ea typeface="Consolas"/>
                <a:cs typeface="Consolas"/>
              </a:rPr>
              <a:t>Concepto: Consulta nutricional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E6F2EE"/>
                </a:solidFill>
                <a:latin typeface="Consolas"/>
                <a:ea typeface="Consolas"/>
                <a:cs typeface="Consolas"/>
              </a:rPr>
              <a:t>Importe : S/ 120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E6F2EE"/>
                </a:solidFill>
                <a:latin typeface="Consolas"/>
                <a:ea typeface="Consolas"/>
                <a:cs typeface="Consolas"/>
              </a:rPr>
              <a:t>--------------------------------------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E2A13A"/>
                </a:solidFill>
                <a:latin typeface="Consolas"/>
                <a:ea typeface="Consolas"/>
                <a:cs typeface="Consolas"/>
              </a:rPr>
              <a:t>Op. Gravada: S/ 101.69 | IGV 18%: S/ 18.31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E2A13A"/>
                </a:solidFill>
                <a:latin typeface="Consolas"/>
                <a:ea typeface="Consolas"/>
                <a:cs typeface="Consolas"/>
              </a:rPr>
              <a:t>Afecto a IGV.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E6F2EE"/>
                </a:solidFill>
                <a:latin typeface="Consolas"/>
                <a:ea typeface="Consolas"/>
                <a:cs typeface="Consolas"/>
              </a:rPr>
              <a:t> 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 b="1">
                <a:solidFill>
                  <a:srgbClr val="7FD1B9"/>
                </a:solidFill>
                <a:latin typeface="Consolas"/>
                <a:ea typeface="Consolas"/>
                <a:cs typeface="Consolas"/>
              </a:rPr>
              <a:t>&gt; /demo/singleton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E6F2EE"/>
                </a:solidFill>
                <a:latin typeface="Consolas"/>
                <a:ea typeface="Consolas"/>
                <a:cs typeface="Consolas"/>
              </a:rPr>
              <a:t>getInstance() #1 -&gt; objeto 62c1fff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E6F2EE"/>
                </a:solidFill>
                <a:latin typeface="Consolas"/>
                <a:ea typeface="Consolas"/>
                <a:cs typeface="Consolas"/>
              </a:rPr>
              <a:t>getInstance() #2 -&gt; objeto 62c1fff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E2A13A"/>
                </a:solidFill>
                <a:latin typeface="Consolas"/>
                <a:ea typeface="Consolas"/>
                <a:cs typeface="Consolas"/>
              </a:rPr>
              <a:t>¿Es la MISMA instancia?  true</a:t>
            </a:r>
            <a:endParaRPr sz="1100"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50C46AA7-D47D-47EF-9422-43DB63DC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5532120"/>
            <a:ext cx="528797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Comprobantes de demostración · /demo/creacionales</a:t>
            </a:r>
            <a:endParaRPr sz="105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BEE600E3-303A-4D2D-AB9C-EB9C7FF6B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5870448"/>
            <a:ext cx="5287975" cy="4572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2ECE4"/>
          </a:solidFill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60F53596-09D7-47FB-80BD-246397572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870448"/>
            <a:ext cx="501365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15221F"/>
                </a:solidFill>
                <a:latin typeface="Calibri"/>
                <a:ea typeface="Calibri"/>
                <a:cs typeface="Calibri"/>
              </a:rPr>
              <a:t>Antes de la demo:  XAMPP (MySQL)  →  .\mvnw.cmd spring-boot:run  →  localhost:8082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6672651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0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4BDFF85-D144-440E-A200-5BC5EA86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9184"/>
            <a:ext cx="1109441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B87B1E"/>
                </a:solidFill>
                <a:latin typeface="Calibri"/>
                <a:ea typeface="Calibri"/>
                <a:cs typeface="Calibri"/>
              </a:rPr>
              <a:t>DEMO EN VIVO · 2/2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81AC359-0DCC-4D98-BF70-53399311C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Patrones estructurales en ejecución</a:t>
            </a:r>
            <a:endParaRPr sz="28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141573D-7CC4-41E5-8D3B-18C94D64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98448"/>
            <a:ext cx="5532120" cy="1024128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3DC564D-EB68-4795-8A95-4936410E8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581912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5A51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C27A2EA-BDCD-4E9A-8585-76E99F432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58191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  <a:endParaRPr sz="1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39DBD95-0B23-446B-ACEB-CAC2F6F6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380744"/>
            <a:ext cx="4617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Adapter</a:t>
            </a:r>
            <a:endParaRPr sz="135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C163F7A-9E5A-4FCB-8756-3E482081B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664208"/>
            <a:ext cx="4617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F5A51"/>
                </a:solidFill>
                <a:latin typeface="Consolas"/>
                <a:ea typeface="Consolas"/>
                <a:cs typeface="Consolas"/>
              </a:rPr>
              <a:t>/demo/adapter?dni=45231890</a:t>
            </a:r>
            <a:endParaRPr sz="10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E4072DF2-5AA5-4C28-A7FC-3C8D6F49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993392"/>
            <a:ext cx="4617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El proveedor simulado responde 'APELLIDOS|NOMBRES'.</a:t>
            </a:r>
            <a:endParaRPr sz="10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2163A82D-C4AC-4A6E-86E3-20DB4C88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450592"/>
            <a:ext cx="5532120" cy="1024128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50C7D5B-80D1-43CB-B643-AE5F13812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734056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4A89"/>
          </a:solidFill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9DDBA23-FD22-406A-B911-92B0B774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734056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  <a:endParaRPr sz="14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792176C-C680-4C26-AB23-3D61C068E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532888"/>
            <a:ext cx="4617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Facade</a:t>
            </a:r>
            <a:endParaRPr sz="135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43B6426-944C-4810-BAAD-839964105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816352"/>
            <a:ext cx="4617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F5A51"/>
                </a:solidFill>
                <a:latin typeface="Consolas"/>
                <a:ea typeface="Consolas"/>
                <a:cs typeface="Consolas"/>
              </a:rPr>
              <a:t>/demo/facade?idPaciente=1&amp;idMedico=1&amp;tipo=Teleconsulta</a:t>
            </a:r>
            <a:endParaRPr sz="1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E812B7D-4F32-4608-AD14-B68080C0C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145536"/>
            <a:ext cx="4617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Una llamada guarda cita, pago pendiente y aviso simulado.</a:t>
            </a:r>
            <a:endParaRPr sz="10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7B7DD228-BA9F-4AC9-9904-E7D8659CD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02736"/>
            <a:ext cx="5532120" cy="1024128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898A9C1E-4A33-4AF8-9D99-0174E2C2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8862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7B1E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0F7FAE98-C02B-4316-8C59-F241A3070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8862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  <a:endParaRPr sz="14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31C02FB-C5BF-4CDC-AFA0-8DEBA23CF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85032"/>
            <a:ext cx="4617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Decorator</a:t>
            </a:r>
            <a:endParaRPr sz="13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46BDA12-EFB3-4109-BE01-860E4B7E5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968496"/>
            <a:ext cx="4617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F5A51"/>
                </a:solidFill>
                <a:latin typeface="Consolas"/>
                <a:ea typeface="Consolas"/>
                <a:cs typeface="Consolas"/>
              </a:rPr>
              <a:t>/demo/decorator?base=80&amp;teleconsulta=true&amp;seguro=true</a:t>
            </a:r>
            <a:endParaRPr sz="10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8EE2348-6A8C-4959-8D3B-65CF6F49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297680"/>
            <a:ext cx="4617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S/ 80 + recargo + seguro + IGV = S/ 112.10, sin tocar la base.</a:t>
            </a:r>
            <a:endParaRPr sz="10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F5DB72E1-9FB1-4B2C-9DAF-F0580FCD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0"/>
            <a:ext cx="5532120" cy="1024128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92F31E30-9A5B-4D1C-B72D-2CD95923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038344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5A51"/>
          </a:solidFill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090B772-6893-4B29-87EE-83FBAE847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038344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</a:t>
            </a:r>
            <a:endParaRPr sz="14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F83F1A69-3A5B-49AF-89A1-DED124F7A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837176"/>
            <a:ext cx="46177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Composite</a:t>
            </a:r>
            <a:endParaRPr sz="135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B28B2C2-78B4-414B-BDEA-2A07D4EF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120640"/>
            <a:ext cx="4617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0F5A51"/>
                </a:solidFill>
                <a:latin typeface="Consolas"/>
                <a:ea typeface="Consolas"/>
                <a:cs typeface="Consolas"/>
              </a:rPr>
              <a:t>/demo/composite</a:t>
            </a:r>
            <a:endParaRPr sz="10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F3FA806A-2F21-4BA7-BB28-99E165C4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449824"/>
            <a:ext cx="4617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Combo con un paquete anidado: precio total recursivo (S/ 300).</a:t>
            </a:r>
            <a:endParaRPr sz="10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AAC36A7B-B9DE-4118-B563-1F6846E2F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298448"/>
            <a:ext cx="5287975" cy="4160520"/>
          </a:xfrm>
          <a:prstGeom xmlns:a="http://schemas.openxmlformats.org/drawingml/2006/main" prst="roundRect">
            <a:avLst>
              <a:gd name="adj" fmla="val 1758"/>
            </a:avLst>
          </a:prstGeom>
          <a:solidFill xmlns:a="http://schemas.openxmlformats.org/drawingml/2006/main">
            <a:srgbClr val="1E3A36"/>
          </a:solidFill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4AF2C9C4-DC5A-4A03-94DB-43B27320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1435608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6D5A"/>
          </a:solidFill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48A2ACB5-BC6A-402E-9EF5-AB15F3BAB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2552" y="1435608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A13A"/>
          </a:solidFill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FFB56356-94CF-4737-ACC5-51D2CAA78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5432" y="1435608"/>
            <a:ext cx="118872" cy="1188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FB49C"/>
          </a:solidFill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74F17935-E177-4643-ABA2-9D13C7D8A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371600"/>
            <a:ext cx="437357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BFD3CD"/>
                </a:solidFill>
                <a:latin typeface="Consolas"/>
                <a:ea typeface="Consolas"/>
                <a:cs typeface="Consolas"/>
              </a:rPr>
              <a:t>localhost:8082/demo/facade?idPaciente=1&amp;idMedico=1</a:t>
            </a:r>
            <a:endParaRPr sz="95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41493CAB-CBB9-4310-BAE6-B70D360B2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1682496"/>
            <a:ext cx="5178247" cy="3721608"/>
          </a:xfrm>
          <a:prstGeom xmlns:a="http://schemas.openxmlformats.org/drawingml/2006/main" prst="roundRect">
            <a:avLst>
              <a:gd name="adj" fmla="val 1474"/>
            </a:avLst>
          </a:prstGeom>
          <a:solidFill xmlns:a="http://schemas.openxmlformats.org/drawingml/2006/main">
            <a:srgbClr val="0F2623"/>
          </a:solidFill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BDED9036-F416-4195-9E7D-93B1F511A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865376"/>
            <a:ext cx="4739335" cy="3429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 b="1">
                <a:solidFill>
                  <a:srgbClr val="7FD1B9"/>
                </a:solidFill>
                <a:latin typeface="Consolas"/>
                <a:ea typeface="Consolas"/>
                <a:cs typeface="Consolas"/>
              </a:rPr>
              <a:t>PATRÓN FACADE (agendamiento de cita)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7FD1B9"/>
                </a:solidFill>
                <a:latin typeface="Consolas"/>
                <a:ea typeface="Consolas"/>
                <a:cs typeface="Consolas"/>
              </a:rPr>
              <a:t>====================================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E6F2EE"/>
                </a:solidFill>
                <a:latin typeface="Consolas"/>
                <a:ea typeface="Consolas"/>
                <a:cs typeface="Consolas"/>
              </a:rPr>
              <a:t>Una sola llamada coordinó: validación,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E6F2EE"/>
                </a:solidFill>
                <a:latin typeface="Consolas"/>
                <a:ea typeface="Consolas"/>
                <a:cs typeface="Consolas"/>
              </a:rPr>
              <a:t>disponibilidad, </a:t>
            </a:r>
            <a:r>
              <a:rPr sz="1100">
                <a:solidFill>
                  <a:srgbClr val="E6F2EE"/>
                </a:solidFill>
                <a:latin typeface="Consolas"/>
                <a:ea typeface="Consolas"/>
                <a:cs typeface="Consolas"/>
              </a:rPr>
              <a:t>cita, pago y aviso.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E6F2EE"/>
                </a:solidFill>
                <a:latin typeface="Consolas"/>
                <a:ea typeface="Consolas"/>
                <a:cs typeface="Consolas"/>
              </a:rPr>
              <a:t>--------------------------------------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 b="1">
                <a:solidFill>
                  <a:srgbClr val="E2A13A"/>
                </a:solidFill>
                <a:latin typeface="Consolas"/>
                <a:ea typeface="Consolas"/>
                <a:cs typeface="Consolas"/>
              </a:rPr>
              <a:t>OK  Cita agendada correctamente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E6F2EE"/>
                </a:solidFill>
                <a:latin typeface="Consolas"/>
                <a:ea typeface="Consolas"/>
                <a:cs typeface="Consolas"/>
              </a:rPr>
              <a:t>    N° de cita   : 1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E6F2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00">
                <a:solidFill>
                  <a:srgbClr val="E6F2EE"/>
                </a:solidFill>
                <a:latin typeface="Consolas"/>
                <a:ea typeface="Consolas"/>
                <a:cs typeface="Consolas"/>
              </a:rPr>
              <a:t>Enlace demo  : sin reunión real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E6F2EE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100">
                <a:solidFill>
                  <a:srgbClr val="E6F2EE"/>
                </a:solidFill>
                <a:latin typeface="Consolas"/>
                <a:ea typeface="Consolas"/>
                <a:cs typeface="Consolas"/>
              </a:rPr>
              <a:t>Aviso simulado: destinatario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E6F2EE"/>
                </a:solidFill>
                <a:latin typeface="Consolas"/>
                <a:ea typeface="Consolas"/>
                <a:cs typeface="Consolas"/>
              </a:rPr>
              <a:t>                   karla.effio@mail.com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E6F2EE"/>
                </a:solidFill>
                <a:latin typeface="Consolas"/>
                <a:ea typeface="Consolas"/>
                <a:cs typeface="Consolas"/>
              </a:rPr>
              <a:t> 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 b="1">
                <a:solidFill>
                  <a:srgbClr val="7FD1B9"/>
                </a:solidFill>
                <a:latin typeface="Consolas"/>
                <a:ea typeface="Consolas"/>
                <a:cs typeface="Consolas"/>
              </a:rPr>
              <a:t>&gt; /demo/decorator?base=80&amp;seguro=true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E6F2EE"/>
                </a:solidFill>
                <a:latin typeface="Consolas"/>
                <a:ea typeface="Consolas"/>
                <a:cs typeface="Consolas"/>
              </a:rPr>
              <a:t>Incluye: base + recargo teleconsulta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>
                <a:solidFill>
                  <a:srgbClr val="E6F2EE"/>
                </a:solidFill>
                <a:latin typeface="Consolas"/>
                <a:ea typeface="Consolas"/>
                <a:cs typeface="Consolas"/>
              </a:rPr>
              <a:t>         + seguro + IGV(18%)</a:t>
            </a:r>
            <a:endParaRPr sz="1100"/>
          </a:p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1100" b="1">
                <a:solidFill>
                  <a:srgbClr val="E2A13A"/>
                </a:solidFill>
                <a:latin typeface="Consolas"/>
                <a:ea typeface="Consolas"/>
                <a:cs typeface="Consolas"/>
              </a:rPr>
              <a:t>TOTAL  : S/ 112.10</a:t>
            </a:r>
            <a:endParaRPr sz="11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A947D456-1EB3-441B-BADE-BD8053E3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5532120"/>
            <a:ext cx="528797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i="1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Solo /demo/facade persiste la reserva · envíos y video simulados</a:t>
            </a:r>
            <a:endParaRPr sz="105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2ADB575F-DBA5-4CA3-8A68-38BD3A43E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5870448"/>
            <a:ext cx="5287975" cy="4572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2ECE4"/>
          </a:solidFill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6B9E1786-706F-4CA3-A273-547DCCCCE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870448"/>
            <a:ext cx="5013655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15221F"/>
                </a:solidFill>
                <a:latin typeface="Consolas"/>
                <a:ea typeface="Consolas"/>
                <a:cs typeface="Consolas"/>
              </a:rPr>
              <a:t>BD: cita · pago · historial_clinico · notificacion.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4285732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0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62B944E-B244-4ECC-AA7F-4C9C810A8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9184"/>
            <a:ext cx="11094415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B87B1E"/>
                </a:solidFill>
                <a:latin typeface="Calibri"/>
                <a:ea typeface="Calibri"/>
                <a:cs typeface="Calibri"/>
              </a:rPr>
              <a:t>CIERRE</a:t>
            </a:r>
            <a:endParaRPr sz="11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2737083-E1A8-4769-995F-43DADCD4E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11094415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Lecciones aprendidas y refactorización del código</a:t>
            </a:r>
            <a:endParaRPr sz="28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EA6A5EA-2179-45BA-B85B-339BE2FA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25880"/>
            <a:ext cx="543290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300">
                <a:solidFill>
                  <a:srgbClr val="B87B1E"/>
                </a:solidFill>
                <a:latin typeface="Calibri"/>
                <a:ea typeface="Calibri"/>
                <a:cs typeface="Calibri"/>
              </a:rPr>
              <a:t>LECCIONES APRENDIDAS</a:t>
            </a:r>
            <a:endParaRPr sz="105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D95865E-2143-430E-85FF-6C0D650D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148" y="1325880"/>
            <a:ext cx="543290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 spc="300">
                <a:solidFill>
                  <a:srgbClr val="B87B1E"/>
                </a:solidFill>
                <a:latin typeface="Calibri"/>
                <a:ea typeface="Calibri"/>
                <a:cs typeface="Calibri"/>
              </a:rPr>
              <a:t>REFACTORIZACIÓN DEL CÓDIGO</a:t>
            </a:r>
            <a:endParaRPr sz="10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36412EA-ECF7-4D1D-A33B-8058E50B7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45920"/>
            <a:ext cx="5432908" cy="950976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8ECBCCF-E5BD-4B41-921F-6FBF7713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828800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5A51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0E93227-BE50-443F-A646-3AA323D0E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828800"/>
            <a:ext cx="43891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  <a:endParaRPr sz="13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0EFE7F0-2AD6-4B76-9264-653BAD86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1764792"/>
            <a:ext cx="45459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Patrones donde hay un problema real</a:t>
            </a:r>
            <a:endParaRPr sz="13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FD0686B-AF86-4671-864E-1FC6BEFF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2057400"/>
            <a:ext cx="4545940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Cada patrón resuelve una necesidad concreta de SaludCerca; aplicarlo sin ese problema sería sobre-ingeniería.</a:t>
            </a:r>
            <a:endParaRPr sz="105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71ED405A-2BBB-455C-9B58-55D9BCE68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06624"/>
            <a:ext cx="5432908" cy="950976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FE8B9BDD-C3F3-4C8F-810A-8B92306F0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889504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5A51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231EA838-3076-4315-9C19-8270D2BE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889504"/>
            <a:ext cx="43891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  <a:endParaRPr sz="13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ABA69B84-B073-4CAE-9D49-B8EBC726E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2825496"/>
            <a:ext cx="45459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Los patrones se combinan</a:t>
            </a:r>
            <a:endParaRPr sz="13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503E88D8-0E7C-4A66-B4EB-A19C98949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118104"/>
            <a:ext cx="4545940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El Facade reutiliza el Factory Method; el Decorator y el Abstract Factory leen el IGV del Singleton.</a:t>
            </a:r>
            <a:endParaRPr sz="10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335533FF-73DF-44F4-B005-E30B188DD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67328"/>
            <a:ext cx="5432908" cy="950976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D6088E45-0B87-4114-928D-45D1CD14A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950208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5A51"/>
          </a:solidFill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A0AF5A2-3AEB-4B5D-9027-1FE8E9EFD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950208"/>
            <a:ext cx="43891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  <a:endParaRPr sz="13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42400CBF-6AC5-46A3-AD86-7E7F89DB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886200"/>
            <a:ext cx="45459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Programar contra abstracciones</a:t>
            </a:r>
            <a:endParaRPr sz="130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01A28EAE-3480-46F9-B9C2-58A37B368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4178808"/>
            <a:ext cx="4545940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Cambiar RENIEC por otro proveedor solo toca el Adapter: el resto del sistema no se entera (Abierto/Cerrado).</a:t>
            </a:r>
            <a:endParaRPr sz="1050"/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80A2A847-33DF-4636-982E-91C65C1DD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28032"/>
            <a:ext cx="5432908" cy="950976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DE2E4120-F520-4CDD-83D1-CA1E0198B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010912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5A51"/>
          </a:solidFill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5227364-6AE6-4D18-8941-07354F77D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010912"/>
            <a:ext cx="43891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</a:t>
            </a:r>
            <a:endParaRPr sz="13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BDFB59A1-0797-4178-B7CE-F02EFD53F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4946904"/>
            <a:ext cx="45459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El modelo de datos manda</a:t>
            </a:r>
            <a:endParaRPr sz="13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AC9A6BDF-25C0-457C-AF46-DF958F895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5239512"/>
            <a:ext cx="4545940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Mapear JPA sobre el script de la PC1 exigió precisión: tablas, columnas y valores ENUM idénticos.</a:t>
            </a:r>
            <a:endParaRPr sz="10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8BAC84E3-A4BE-4044-9BB4-8B96320FE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148" y="1645920"/>
            <a:ext cx="5432908" cy="950976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8F811043-0046-4845-862A-62691F120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4740" y="1828800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4A89"/>
          </a:solidFill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5A147892-3AA8-4B88-BFC4-B087C1D9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4740" y="1828800"/>
            <a:ext cx="43891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  <a:endParaRPr sz="130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C05ECC7-B296-4105-A2D9-28ACA4476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9956" y="1764792"/>
            <a:ext cx="45459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Esquema explícito de base de datos</a:t>
            </a:r>
            <a:endParaRPr sz="13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3E046270-1771-4755-9F39-306E77FAC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9956" y="2057400"/>
            <a:ext cx="4545940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El script SQL crea las tablas. ddl-auto=none conserva ese esquema y evita cambios automáticos al iniciar.</a:t>
            </a:r>
            <a:endParaRPr sz="1050"/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CBEFCF31-032F-4F49-B2F6-2D38FDFC2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148" y="2706624"/>
            <a:ext cx="5432908" cy="950976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6727BB65-2AB2-46D8-9646-AE7234DAE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4740" y="2889504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4A89"/>
          </a:solidFill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EE66023F-F770-4040-8D60-99538936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4740" y="2889504"/>
            <a:ext cx="43891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  <a:endParaRPr sz="13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580BF3D0-A650-45D8-9893-F039F869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9956" y="2825496"/>
            <a:ext cx="45459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Entorno alineado con Java 21</a:t>
            </a:r>
            <a:endParaRPr sz="13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07B3A556-6EF6-41BC-A8BA-14148D96E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9956" y="3118104"/>
            <a:ext cx="4545940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Maven y VS Code usan JDK 21. La compilación y el recorrido de reserva y atención fueron verificados.</a:t>
            </a:r>
            <a:endParaRPr sz="105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B6EF69C4-9CEF-413F-BD97-A7F754D5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148" y="3767328"/>
            <a:ext cx="5432908" cy="950976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CE6D0DBC-CC4C-45A3-8DFA-EED68FD43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4740" y="3950208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4A89"/>
          </a:solidFill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1FE43FA4-01B1-4EA9-9AB3-B67627D2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4740" y="3950208"/>
            <a:ext cx="43891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  <a:endParaRPr sz="130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A5955446-F88D-42F3-815C-A4DF36C57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9956" y="3886200"/>
            <a:ext cx="45459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Inyección por constructor</a:t>
            </a:r>
            <a:endParaRPr sz="1300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D8444A27-84D4-4669-96CB-683D781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9956" y="4178808"/>
            <a:ext cx="4545940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Las dependencias se declaran en el constructor; las abstracciones permiten sustituir implementaciones (D de SOLID).</a:t>
            </a:r>
            <a:endParaRPr sz="1050"/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DB3C8C7B-20CB-47A9-B29A-9C15BB8B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148" y="4828032"/>
            <a:ext cx="5432908" cy="950976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2D9"/>
            </a:solidFill>
            <a:prstDash val="solid"/>
          </a:ln>
        </p:spPr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D25EBF08-8F7B-4A96-B082-F8009D2C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4740" y="5010912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4A89"/>
          </a:solidFill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B0ECD753-9824-408F-9A1A-1363B473D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4740" y="5010912"/>
            <a:ext cx="43891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</a:t>
            </a:r>
            <a:endParaRPr sz="1300"/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161879B2-B402-45C0-BBB6-3F7EBA6A3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9956" y="4946904"/>
            <a:ext cx="45459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15221F"/>
                </a:solidFill>
                <a:latin typeface="Cambria"/>
                <a:ea typeface="Cambria"/>
                <a:cs typeface="Cambria"/>
              </a:rPr>
              <a:t>Subsistemas fuera del Facade</a:t>
            </a:r>
            <a:endParaRPr sz="1300"/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8839AE9D-CFCE-496D-B5E0-4106FEB42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9956" y="5239512"/>
            <a:ext cx="4545940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52645D"/>
                </a:solidFill>
                <a:latin typeface="Calibri"/>
                <a:ea typeface="Calibri"/>
                <a:cs typeface="Calibri"/>
              </a:rPr>
              <a:t>DisponibilidadService y GeneradorEnlaceVideollamada se extrajeron: una responsabilidad por clase (la S de SOLID).</a:t>
            </a:r>
            <a:endParaRPr sz="1050"/>
          </a:p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830754A9-442D-4210-9B15-4D1A3006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943600"/>
            <a:ext cx="11094415" cy="438912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A3D39"/>
          </a:solidFill>
        </p:spPr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88994039-AD99-4CCA-897F-9CB18A2AA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943600"/>
            <a:ext cx="10637215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E2A13A"/>
                </a:solidFill>
                <a:latin typeface="Calibri"/>
                <a:ea typeface="Calibri"/>
                <a:cs typeface="Calibri"/>
              </a:rPr>
              <a:t>Siguiente etapa: </a:t>
            </a:r>
            <a:r>
              <a:rPr sz="12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acceso por roles, cancelación y patrones de comportamiento: Strategy y Observer.</a:t>
            </a:r>
            <a:r>
              <a:rPr sz="1200" b="1">
                <a:solidFill>
                  <a:srgbClr val="E2A13A"/>
                </a:solidFill>
                <a:latin typeface="Calibri"/>
                <a:ea typeface="Calibri"/>
                <a:cs typeface="Calibri"/>
              </a:rPr>
              <a:t>     ¡Gracias! · ¿Preguntas?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67980845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2026-10-16T04:16:55.6130000Z</dcterms:created>
  <dcterms:modified xsi:type="dcterms:W3CDTF">2026-10-16T04:16:55.6130000Z</dcterms:modified>
</coreProperties>
</file>