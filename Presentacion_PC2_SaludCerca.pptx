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c8e1b78c284ee7" /><Relationship Type="http://schemas.openxmlformats.org/officeDocument/2006/relationships/extended-properties" Target="/docProps/app.xml" Id="R6ddd0bd4d2a94ae3" /><Relationship Type="http://schemas.openxmlformats.org/officeDocument/2006/relationships/officeDocument" Target="/ppt/presentation.xml" Id="Rfa12f6e67f0d47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60abca9d894e79"/>
  </p:sldMasterIdLst>
  <p:notesMasterIdLst>
    <p:notesMasterId xmlns:r="http://schemas.openxmlformats.org/officeDocument/2006/relationships" r:id="R858341ce9903409e"/>
  </p:notesMasterIdLst>
  <p:sldIdLst>
    <p:sldId xmlns:r="http://schemas.openxmlformats.org/officeDocument/2006/relationships" id="256" r:id="Re27d4d65e1164675"/>
    <p:sldId xmlns:r="http://schemas.openxmlformats.org/officeDocument/2006/relationships" id="257" r:id="R7cdfd39930f14342"/>
    <p:sldId xmlns:r="http://schemas.openxmlformats.org/officeDocument/2006/relationships" id="258" r:id="R2d785ced48894db4"/>
    <p:sldId xmlns:r="http://schemas.openxmlformats.org/officeDocument/2006/relationships" id="259" r:id="R8cc13bf92b3342ae"/>
    <p:sldId xmlns:r="http://schemas.openxmlformats.org/officeDocument/2006/relationships" id="260" r:id="Rc37ffcc2d48a4bec"/>
    <p:sldId xmlns:r="http://schemas.openxmlformats.org/officeDocument/2006/relationships" id="261" r:id="R90fb3d967791408a"/>
    <p:sldId xmlns:r="http://schemas.openxmlformats.org/officeDocument/2006/relationships" id="262" r:id="Red2576c5734d4a34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c2df30172240d5" /><Relationship Type="http://schemas.openxmlformats.org/officeDocument/2006/relationships/slideMaster" Target="/ppt/slideMasters/slideMaster1.xml" Id="R3c60abca9d894e79" /><Relationship Type="http://schemas.openxmlformats.org/officeDocument/2006/relationships/notesMaster" Target="/ppt/notesMasters/notesMaster1.xml" Id="R858341ce9903409e" /><Relationship Type="http://schemas.openxmlformats.org/officeDocument/2006/relationships/presProps" Target="/ppt/presProps.xml" Id="Ra3fa5211f3f3402d" /><Relationship Type="http://schemas.openxmlformats.org/officeDocument/2006/relationships/viewProps" Target="/ppt/viewProps.xml" Id="R5f219b658c8a4272" /><Relationship Type="http://schemas.openxmlformats.org/officeDocument/2006/relationships/tableStyles" Target="/ppt/tableStyles.xml" Id="R93b784fc25b54236" /><Relationship Type="http://schemas.openxmlformats.org/officeDocument/2006/relationships/slide" Target="/ppt/slides/slide1.xml" Id="Re27d4d65e1164675" /><Relationship Type="http://schemas.openxmlformats.org/officeDocument/2006/relationships/slide" Target="/ppt/slides/slide2.xml" Id="R7cdfd39930f14342" /><Relationship Type="http://schemas.openxmlformats.org/officeDocument/2006/relationships/slide" Target="/ppt/slides/slide3.xml" Id="R2d785ced48894db4" /><Relationship Type="http://schemas.openxmlformats.org/officeDocument/2006/relationships/slide" Target="/ppt/slides/slide4.xml" Id="R8cc13bf92b3342ae" /><Relationship Type="http://schemas.openxmlformats.org/officeDocument/2006/relationships/slide" Target="/ppt/slides/slide5.xml" Id="Rc37ffcc2d48a4bec" /><Relationship Type="http://schemas.openxmlformats.org/officeDocument/2006/relationships/slide" Target="/ppt/slides/slide6.xml" Id="R90fb3d967791408a" /><Relationship Type="http://schemas.openxmlformats.org/officeDocument/2006/relationships/slide" Target="/ppt/slides/slide7.xml" Id="Red2576c5734d4a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8658845ff943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b26b4fd7814963" /><Relationship Type="http://schemas.openxmlformats.org/officeDocument/2006/relationships/notesMaster" Target="/ppt/notesMasters/notesMaster1.xml" Id="R0e782cd48d654d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d252640d5e438d" /><Relationship Type="http://schemas.openxmlformats.org/officeDocument/2006/relationships/notesMaster" Target="/ppt/notesMasters/notesMaster1.xml" Id="R1199e405c29b41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234a4335a44ea5" /><Relationship Type="http://schemas.openxmlformats.org/officeDocument/2006/relationships/notesMaster" Target="/ppt/notesMasters/notesMaster1.xml" Id="R6d01b0563c3e40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54d7779fd943b8" /><Relationship Type="http://schemas.openxmlformats.org/officeDocument/2006/relationships/notesMaster" Target="/ppt/notesMasters/notesMaster1.xml" Id="R877ba90fb44741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78db2094ab4b7e" /><Relationship Type="http://schemas.openxmlformats.org/officeDocument/2006/relationships/notesMaster" Target="/ppt/notesMasters/notesMaster1.xml" Id="R84c1d6dda31e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ff3aa4ebb7435b" /><Relationship Type="http://schemas.openxmlformats.org/officeDocument/2006/relationships/notesMaster" Target="/ppt/notesMasters/notesMaster1.xml" Id="R2498baf435c944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4d7fe3c32c4bae" /><Relationship Type="http://schemas.openxmlformats.org/officeDocument/2006/relationships/notesMaster" Target="/ppt/notesMasters/notesMaster1.xml" Id="R73369e43c84e4b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https://github.com/anderjp/SaludCerca_PC2 antes de la sustentación. El repositorio es público y contiene el código fuente, el SQL y el README. La fecha de entrega confirmada es 16/10/2026. Presentar los seis integrantes.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Entorno verificado: JDK 21, Spring Boot 4.1.1, Thymeleaf, JPA/Hibernate y MariaDB de XAMPP. Mostrar pom.xml y paquetes web, service, repository, model y pattern.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los cinco UML con el código: Singleton ConfiguracionApp; Factory Method NotificacionFactory y canales; Prototype PlantillaHistorial; Abstract Factory ComprobanteFactory con comprobante y leyenda; Builder ReporteAtencionesBuilder. Ampliar los diagramas al explicar.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los cuatro UML con el caso de uso real. Adapter traduce la respuesta simulada; Facade coordina la reserva; Decorator envuelve costos; Composite trata igual hojas y paquetes. Las imágenes conservan el diseño original.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la demo funcional, abrir Paciente, elegir a Castañeda y un turno futuro libre. Alternar seguro y Boleta/Recibo antes de completar la identidad. Usar DNI 45231890, seleccionar SMS y confirmar. El envío está simulado. Anotar el número de la nueva cita.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la reserva confirmada (Facade), atender esa misma cita desde Médico y personalizar la plantilla (Prototype). En Administrador mostrar Catálogo (Composite), Reportes (Builder) y Configuración (Singleton). Comprobar cita, pago, historial y notificaciones en la base. El pago queda Pendiente; Meet y avisos no son integraciones reales.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Exponer solo cambios verificados. Pendientes del avance: autenticación y autorización, cancelación, verificación de centros, pago completado y robustecer las reservas simultáneas. No prometer integraciones externas. La consigna exige 15 minutos de exposición/demo más 5 de preguntas; el video es evidencia o ensayo salvo indicación adicional del docente.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cc5cc6ef04fa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fb6d6516ea4f49" /><Relationship Type="http://schemas.openxmlformats.org/officeDocument/2006/relationships/slideLayout" Target="/ppt/slideLayouts/slideLayout1.xml" Id="R4f15901567a5472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15901567a5472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475b666eef84552"/><Relationship Type="http://schemas.openxmlformats.org/officeDocument/2006/relationships/notesSlide" Target="/ppt/notesSlides/notesSlide1.xml" Id="R18cf712b6b6f4135"/><Relationship Id="rId1" Type="http://schemas.openxmlformats.org/officeDocument/2006/relationships/hyperlink" Target="https://github.com/anderjp/SaludCerca_PC2" TargetMode="External"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bb28014a74c49" /><Relationship Type="http://schemas.openxmlformats.org/officeDocument/2006/relationships/notesSlide" Target="/ppt/notesSlides/notesSlide2.xml" Id="R03d8ddf48cd845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29182b8db48b6" /><Relationship Type="http://schemas.openxmlformats.org/officeDocument/2006/relationships/image" Target="/ppt/media/image.png" Id="R9111bd7df7af4f30" /><Relationship Type="http://schemas.openxmlformats.org/officeDocument/2006/relationships/image" Target="/ppt/media/image2.png" Id="Re300b6fee8374693" /><Relationship Type="http://schemas.openxmlformats.org/officeDocument/2006/relationships/image" Target="/ppt/media/image3.png" Id="R02e9167117574446" /><Relationship Type="http://schemas.openxmlformats.org/officeDocument/2006/relationships/image" Target="/ppt/media/image4.png" Id="R5a0c5ea29cef4302" /><Relationship Type="http://schemas.openxmlformats.org/officeDocument/2006/relationships/image" Target="/ppt/media/image5.png" Id="Rb33646faea86489c" /><Relationship Type="http://schemas.openxmlformats.org/officeDocument/2006/relationships/notesSlide" Target="/ppt/notesSlides/notesSlide3.xml" Id="R66e8b26429cb40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3de7654a64ed3" /><Relationship Type="http://schemas.openxmlformats.org/officeDocument/2006/relationships/image" Target="/ppt/media/image6.png" Id="Rab8e91973b2d4200" /><Relationship Type="http://schemas.openxmlformats.org/officeDocument/2006/relationships/image" Target="/ppt/media/image7.png" Id="Rad5a5f3f8b1c4326" /><Relationship Type="http://schemas.openxmlformats.org/officeDocument/2006/relationships/image" Target="/ppt/media/image8.png" Id="R8a7a7eb008f845fe" /><Relationship Type="http://schemas.openxmlformats.org/officeDocument/2006/relationships/image" Target="/ppt/media/image9.png" Id="Rea0e779646aa423a" /><Relationship Type="http://schemas.openxmlformats.org/officeDocument/2006/relationships/notesSlide" Target="/ppt/notesSlides/notesSlide4.xml" Id="Rf27203f5950849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f936f684543f4" /><Relationship Type="http://schemas.openxmlformats.org/officeDocument/2006/relationships/notesSlide" Target="/ppt/notesSlides/notesSlide5.xml" Id="R8f4714b6aaf44d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2510f879744ab" /><Relationship Type="http://schemas.openxmlformats.org/officeDocument/2006/relationships/notesSlide" Target="/ppt/notesSlides/notesSlide6.xml" Id="Rf7a3e6b9d48246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8bdc13ecd4957" /><Relationship Type="http://schemas.openxmlformats.org/officeDocument/2006/relationships/notesSlide" Target="/ppt/notesSlides/notesSlide7.xml" Id="Rd91cb7f8e21042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3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92F6C8C-BC20-47BE-B05C-E82D97A1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1554480"/>
            <a:ext cx="4206240" cy="420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5852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26D6AFF-EF2C-48C0-B5B6-78715E97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7492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5852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473DEFA-14ED-4CED-A590-871170E6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UNIVERSIDAD TECNOLÓGICA DEL PERÚ (UTP)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40296C5-B643-496B-A68B-9BE427A0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9C9C2"/>
                </a:solidFill>
                <a:latin typeface="Calibri"/>
                <a:ea typeface="Calibri"/>
                <a:cs typeface="Calibri"/>
              </a:rPr>
              <a:t>Facultad de Ingeniería de Sistemas e Informática · Curso: Diseño de Patrones (100000SI47)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254DE7E-BB1A-4699-AA70-D5749EB2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274320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2A13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9BF891-1B87-4E0D-8979-16ABFC4B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A3D39"/>
                </a:solidFill>
                <a:latin typeface="Calibri"/>
                <a:ea typeface="Calibri"/>
                <a:cs typeface="Calibri"/>
              </a:rPr>
              <a:t>PRÁCTICA CALIFICADA 2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A1759E-6467-4179-A166-6430E6DF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10512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SaludCerca</a:t>
            </a:r>
            <a:endParaRPr sz="5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6D3E30-3FE1-4144-8EB3-74FA7EC1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84124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D5E6E1"/>
                </a:solidFill>
                <a:latin typeface="Calibri"/>
                <a:ea typeface="Calibri"/>
                <a:cs typeface="Calibri"/>
              </a:rPr>
              <a:t>Avance del 50%: implementación de patrones creacionales y estructurales (GoF)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D5E6E1"/>
                </a:solidFill>
                <a:latin typeface="Calibri"/>
                <a:ea typeface="Calibri"/>
                <a:cs typeface="Calibri"/>
              </a:rPr>
              <a:t>en la plataforma web de gestión de citas médicas</a:t>
            </a:r>
            <a:endParaRPr sz="16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01B3106-D083-4D6D-B67E-75A8B93A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11094415" cy="269748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10514B"/>
          </a:solidFill>
          <a:ln xmlns:a="http://schemas.openxmlformats.org/drawingml/2006/main" w="9525">
            <a:solidFill>
              <a:srgbClr val="2C6E66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32F3D39-9BE5-479D-8B05-2885E04F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58768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E2A13A"/>
                </a:solidFill>
                <a:latin typeface="Calibri"/>
                <a:ea typeface="Calibri"/>
                <a:cs typeface="Calibri"/>
              </a:rPr>
              <a:t>INTEGRANTES</a:t>
            </a:r>
            <a:endParaRPr sz="1100"/>
          </a:p>
        </p:txBody>
      </p:sp>
      <p:graphicFrame>
        <p:nvGraphicFramePr>
          <p:cNvPr id="18" name="Table 0">
            <a:extLst xmlns:a="http://schemas.openxmlformats.org/drawingml/2006/main">
              <a:ext uri="{FF2B5EF4-FFF2-40B4-BE49-F238E27FC236}">
                <a16:creationId xmlns:a16="http://schemas.microsoft.com/office/drawing/2014/main" id="{0D7558A2-1573-4814-984F-793D2D0710CD}"/>
              </a:ext>
            </a:extLst>
          </p:cNvPr>
          <p:cNvGraphicFramePr/>
          <p:nvPr/>
        </p:nvGraphicFramePr>
        <p:xfrm>
          <a:off xmlns:a="http://schemas.openxmlformats.org/drawingml/2006/main" x="822960" y="4160520"/>
          <a:ext xmlns:a="http://schemas.openxmlformats.org/drawingml/2006/main" cx="5943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"/>
                <a:gridCol w="4160520"/>
                <a:gridCol w="1371600"/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Kanashiro Yaringaño Eduardo Alfonso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U23328413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Criollo Arias Jean Pierre Sebastian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U23304637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Santisteban Cisneros Johann Alexis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U23329723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Romero Monsefu Anderson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U24236631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Casana Solano Anthony José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U23305156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Sauñe Rengifo Flavianna Georgette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5221F"/>
                          </a:solidFill>
                          <a:latin typeface="Calibri"/>
                          <a:ea typeface="Calibri"/>
                          <a:cs typeface="Calibri"/>
                        </a:rPr>
                        <a:t>U22211499</a:t>
                      </a:r>
                      <a:endParaRPr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8FB98A"/>
                      </a:solidFill>
                      <a:prstDash val="solid"/>
                    </a:lnL>
                    <a:lnR w="9525" cmpd="sng">
                      <a:solidFill>
                        <a:srgbClr val="8FB98A"/>
                      </a:solidFill>
                      <a:prstDash val="solid"/>
                    </a:lnR>
                    <a:lnT w="9525" cmpd="sng">
                      <a:solidFill>
                        <a:srgbClr val="8FB98A"/>
                      </a:solidFill>
                      <a:prstDash val="solid"/>
                    </a:lnT>
                    <a:lnB w="9525" cmpd="sng">
                      <a:solidFill>
                        <a:srgbClr val="8FB98A"/>
                      </a:solidFill>
                      <a:prstDash val="solid"/>
                    </a:lnB>
                    <a:solidFill>
                      <a:srgbClr val="B3D3A4"/>
                    </a:solidFill>
                  </a:tcPr>
                </a:tc>
              </a:tr>
            </a:tbl>
          </a:graphicData>
        </a:graphic>
      </p:graphicFrame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CA9DA13-7B29-4620-88E6-169142BB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16052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300">
                <a:solidFill>
                  <a:srgbClr val="E2A13A"/>
                </a:solidFill>
                <a:latin typeface="Calibri"/>
                <a:ea typeface="Calibri"/>
                <a:cs typeface="Calibri"/>
              </a:rPr>
              <a:t>DOCENTE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E256CBF-3EDE-4350-A0DA-5B5DF27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416552"/>
            <a:ext cx="4206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Ronald Angel Ayra Pinto</a:t>
            </a:r>
            <a:endParaRPr sz="16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4256868-4FDB-4CD4-BEE9-4BDA1432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95604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300">
                <a:solidFill>
                  <a:srgbClr val="E2A13A"/>
                </a:solidFill>
                <a:latin typeface="Calibri"/>
                <a:ea typeface="Calibri"/>
                <a:cs typeface="Calibri"/>
              </a:rPr>
              <a:t>REPOSITORIO DE CÓDIGO</a:t>
            </a:r>
            <a:endParaRPr sz="1050"/>
          </a:p>
        </p:txBody>
      </p:sp>
      <p:sp>
        <p:nvSpPr>
          <p:cNvPr id="16" name="Text 13">
            <ns0:hlinkClick xmlns:ns0="http://schemas.openxmlformats.org/drawingml/2006/main" xmlns:ns1="http://schemas.openxmlformats.org/officeDocument/2006/relationships" ns1:id="rId1"/>
            <a:extLst xmlns:a="http://schemas.openxmlformats.org/drawingml/2006/main">
              <a:ext uri="{FF2B5EF4-FFF2-40B4-BE49-F238E27FC236}">
                <a16:creationId xmlns:a16="http://schemas.microsoft.com/office/drawing/2014/main" id="{46045CAE-C117-4B36-9DEE-F74B2F89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5212080"/>
            <a:ext cx="4297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FD1B9"/>
                </a:solidFill>
                <a:latin typeface="Consolas"/>
                <a:ea typeface="Consolas"/>
                <a:cs typeface="Consolas"/>
              </a:rPr>
              <a:t>github.com/anderjp/SaludCerca_PC2</a:t>
            </a:r>
            <a:endParaRPr sz="12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2485F08-BCD9-4277-BD71-951EEB5E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5870448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9C9C2"/>
                </a:solidFill>
                <a:latin typeface="Calibri"/>
                <a:ea typeface="Calibri"/>
                <a:cs typeface="Calibri"/>
              </a:rPr>
              <a:t>Lima – Perú · 16/10/2026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007656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27A7D88-87D1-446F-978A-AF652753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"/>
            <a:ext cx="1109441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B87B1E"/>
                </a:solidFill>
                <a:latin typeface="Calibri"/>
                <a:ea typeface="Calibri"/>
                <a:cs typeface="Calibri"/>
              </a:rPr>
              <a:t>SECCIÓN I · RESUMEN DEL PROYECTO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BBD5AF-BB14-4C06-A8F8-71D21127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SaludCerca: resumen y stack tecnológico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EE8ACC4-B3A0-4E26-A602-E218220F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5257800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29C369B-7A21-4236-BCA7-08CBADA0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02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300">
                <a:solidFill>
                  <a:srgbClr val="B87B1E"/>
                </a:solidFill>
                <a:latin typeface="Calibri"/>
                <a:ea typeface="Calibri"/>
                <a:cs typeface="Calibri"/>
              </a:rPr>
              <a:t>EL PROYECTO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C1389ED-2CA3-4A1E-8BA0-306EFB9B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4709160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1200"/>
              </a:spcAft>
              <a:buNone/>
            </a:pPr>
            <a:r>
              <a:rPr sz="1400" b="1">
                <a:solidFill>
                  <a:srgbClr val="15221F"/>
                </a:solidFill>
                <a:latin typeface="Calibri"/>
                <a:ea typeface="Calibri"/>
                <a:cs typeface="Calibri"/>
              </a:rPr>
              <a:t>Problema: </a:t>
            </a:r>
            <a:r>
              <a:rPr sz="140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consultorios independientes sin sistema propio; el paciente coordina citas por teléfono o redes, sin historial ni registro de pagos.</a:t>
            </a:r>
            <a:endParaRPr sz="1400"/>
          </a:p>
          <a:p xmlns:a="http://schemas.openxmlformats.org/drawingml/2006/main">
            <a:pPr marL="0" indent="0">
              <a:spcAft>
                <a:spcPts val="1200"/>
              </a:spcAft>
              <a:buNone/>
            </a:pPr>
            <a:r>
              <a:rPr sz="1400" b="1">
                <a:solidFill>
                  <a:srgbClr val="15221F"/>
                </a:solidFill>
                <a:latin typeface="Calibri"/>
                <a:ea typeface="Calibri"/>
                <a:cs typeface="Calibri"/>
              </a:rPr>
              <a:t>Solución: </a:t>
            </a:r>
            <a:r>
              <a:rPr sz="140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SaludCerca conecta pacientes con especialistas para citas presenciales o por teleconsulta, con historial clínico y pago simulado.</a:t>
            </a:r>
            <a:endParaRPr sz="1400"/>
          </a:p>
          <a:p xmlns:a="http://schemas.openxmlformats.org/drawingml/2006/main">
            <a:pPr marL="0" indent="0">
              <a:spcAft>
                <a:spcPts val="1200"/>
              </a:spcAft>
              <a:buNone/>
            </a:pPr>
            <a:r>
              <a:rPr sz="1400" b="1">
                <a:solidFill>
                  <a:srgbClr val="15221F"/>
                </a:solidFill>
                <a:latin typeface="Calibri"/>
                <a:ea typeface="Calibri"/>
                <a:cs typeface="Calibri"/>
              </a:rPr>
              <a:t>Alcance PC2 (50%): </a:t>
            </a:r>
            <a:r>
              <a:rPr sz="140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capa de datos (8 entidades JPA) y 9 patrones GoF implementados y demostrables en vivo.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EEFFCAE-767D-41BE-8C65-ABA83540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661465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CA9625A-5FE7-47D0-8835-F2A944B0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26280"/>
            <a:ext cx="166146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0F5A51"/>
                </a:solidFill>
                <a:latin typeface="Cambria"/>
                <a:ea typeface="Cambria"/>
                <a:cs typeface="Cambria"/>
              </a:rPr>
              <a:t>8</a:t>
            </a:r>
            <a:endParaRPr sz="3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7107ED1-23AA-4290-B307-D09C8261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12080"/>
            <a:ext cx="166146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Entidades JPA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6FDFCE7-AE3B-411C-B24C-B17C2661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265" y="4434840"/>
            <a:ext cx="1661465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3F8D74B-A1F6-471A-865A-0405C032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265" y="4526280"/>
            <a:ext cx="166146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B87B1E"/>
                </a:solidFill>
                <a:latin typeface="Cambria"/>
                <a:ea typeface="Cambria"/>
                <a:cs typeface="Cambria"/>
              </a:rPr>
              <a:t>9</a:t>
            </a:r>
            <a:endParaRPr sz="3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65C1A7D-E0A4-4CF8-BAE2-04D32080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265" y="5212080"/>
            <a:ext cx="166146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Patrones GoF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E1A30DB-0C1B-460A-A827-8AEC17EA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890" y="4434840"/>
            <a:ext cx="1661465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74C1DA8-ED45-4B75-89F7-F250C742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890" y="4526280"/>
            <a:ext cx="166146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5B4A89"/>
                </a:solidFill>
                <a:latin typeface="Cambria"/>
                <a:ea typeface="Cambria"/>
                <a:cs typeface="Cambria"/>
              </a:rPr>
              <a:t>4</a:t>
            </a:r>
            <a:endParaRPr sz="3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F7797AF-02BD-4994-848A-23FD292B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890" y="5212080"/>
            <a:ext cx="166146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Capas (MVC)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86D53A2-F775-442F-89EB-4958BD0F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46304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300">
                <a:solidFill>
                  <a:srgbClr val="B87B1E"/>
                </a:solidFill>
                <a:latin typeface="Calibri"/>
                <a:ea typeface="Calibri"/>
                <a:cs typeface="Calibri"/>
              </a:rPr>
              <a:t>STACK TECNOLÓGICO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B263FA0-3E49-463E-9BC7-D9408AC4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783080"/>
            <a:ext cx="2712568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39BFBDC-97F0-4483-A7F1-A9D1F916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9568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A51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1F37492-1B7B-428C-829E-42DE9A37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95681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J</a:t>
            </a:r>
            <a:endParaRPr sz="14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6A13F20-56C6-4ADA-B5A2-3C7F0BE8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920240"/>
            <a:ext cx="1779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Java 21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64A3AB6-B2F2-4CC0-93A4-D98E50DA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258568"/>
            <a:ext cx="1779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Lenguaje orientado a objetos</a:t>
            </a:r>
            <a:endParaRPr sz="10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D750CD7-4BC3-4F25-B44D-19470E3C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0488" y="1783080"/>
            <a:ext cx="2712568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36AD4CB-4B9B-4091-A91E-4ABC2BC4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080" y="19568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A89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A6E965B-C25F-43B1-8C71-A1FB111B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080" y="195681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SB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6EF114B-71AC-4781-824B-27545E37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736" y="1920240"/>
            <a:ext cx="1779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Spring Boot 4.1.1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63A2538-67CC-40BF-A3AA-5499B1B3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736" y="2258568"/>
            <a:ext cx="1779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Framework web (Spring MVC)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6359A26-B0D8-486C-93DB-DADA8976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807208"/>
            <a:ext cx="2712568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44F9907-FA6F-4BF4-882B-236D2C09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980944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B1E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C4093D8-5CC2-4D12-961D-E9B72A90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980944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JPA</a:t>
            </a:r>
            <a:endParaRPr sz="11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CE21E23-F622-4797-B056-1B4555B9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944368"/>
            <a:ext cx="1779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Spring Data JPA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C3C865E-EAB6-4324-A31D-83A967DD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282696"/>
            <a:ext cx="1779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ORM con Hibernate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BC629FA-1DCC-4751-A12C-620AB060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0488" y="2807208"/>
            <a:ext cx="2712568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89DFCDA-CF76-4E3F-A19C-9213DF3C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080" y="2980944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A51"/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AE85185-DE72-4773-9AEC-FFB5FE9A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080" y="2980944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DB</a:t>
            </a:r>
            <a:endParaRPr sz="14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373C5C9-4B36-458D-BFC2-20129D00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736" y="2944368"/>
            <a:ext cx="1779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MySQL / MariaDB</a:t>
            </a:r>
            <a:endParaRPr sz="13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ABDBAAF9-4914-484D-9D33-F8BAD958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736" y="3282696"/>
            <a:ext cx="1779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Base de datos (XAMPP)</a:t>
            </a:r>
            <a:endParaRPr sz="105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324A8000-42BB-41F5-9E6A-73E115EC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831336"/>
            <a:ext cx="2712568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8285253-D6A3-4FCF-90F5-7C2F7C57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400507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A89"/>
          </a:solidFill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B8648C75-6005-466F-8647-9C6D61AD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400507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</a:t>
            </a:r>
            <a:endParaRPr sz="14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5FFBEE60-C237-421D-B1B2-6A778E5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968496"/>
            <a:ext cx="1779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Thymeleaf</a:t>
            </a:r>
            <a:endParaRPr sz="13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ABCFB525-9D32-41E8-BC29-DCA11B19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306824"/>
            <a:ext cx="1779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Vistas del sistema</a:t>
            </a:r>
            <a:endParaRPr sz="10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DB7EA366-2538-47ED-9CF7-CD12BB66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0488" y="3831336"/>
            <a:ext cx="2712568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7111EF2F-AC4D-40F4-AB7E-3F6E713E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080" y="400507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B1E"/>
          </a:solidFill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A8A1C4F-EEEC-453A-A9EE-083AFD91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080" y="400507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</a:t>
            </a:r>
            <a:endParaRPr sz="14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ACB5646E-7D84-4D04-8291-08C4FF14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736" y="3968496"/>
            <a:ext cx="1779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Maven (mvnw)</a:t>
            </a:r>
            <a:endParaRPr sz="130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61D3D211-FE4C-4A2B-846B-E97AE5E4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736" y="4306824"/>
            <a:ext cx="1779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Construcción y dependencias</a:t>
            </a:r>
            <a:endParaRPr sz="105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452BEAC3-2504-4EEF-8BF5-693A2ED6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956048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300">
                <a:solidFill>
                  <a:srgbClr val="B87B1E"/>
                </a:solidFill>
                <a:latin typeface="Calibri"/>
                <a:ea typeface="Calibri"/>
                <a:cs typeface="Calibri"/>
              </a:rPr>
              <a:t>ARQUITECTURA EN CAPAS (MVC)</a:t>
            </a:r>
            <a:endParaRPr sz="105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F3E9877C-4553-41FA-B460-E6995E60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285232"/>
            <a:ext cx="1143000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F5A51"/>
          </a:solidFill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26F2ED9C-4028-4EF8-962D-30ACD5DE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285232"/>
            <a:ext cx="114300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Controladores web</a:t>
            </a:r>
            <a:endParaRPr sz="105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0445CA63-3C6D-4438-A7D8-C3A08752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081" y="5477256"/>
            <a:ext cx="219456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A13A"/>
          </a:solidFill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B585993C-EF6C-4BA3-BABC-C55FD391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858" y="5285232"/>
            <a:ext cx="1143000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F5A51"/>
          </a:solidFill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B27291AC-2CE5-4D31-88C3-D8539ECD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858" y="5285232"/>
            <a:ext cx="114300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Patrones / Servicios</a:t>
            </a:r>
            <a:endParaRPr sz="105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D4D3568C-70E8-4F98-9A7A-213E7FB0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2180" y="5477256"/>
            <a:ext cx="219456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A13A"/>
          </a:solidFill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0B6B0FA9-32F8-4244-9088-96D7DF61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85232"/>
            <a:ext cx="1143000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F5A51"/>
          </a:solidFill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131D8421-2155-4773-B742-0BE30B45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85232"/>
            <a:ext cx="114300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Repositorios JPA</a:t>
            </a:r>
            <a:endParaRPr sz="105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9EAF3CBB-4994-4C16-90B7-F301B92D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278" y="5477256"/>
            <a:ext cx="219456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A13A"/>
          </a:solidFill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4A4B6063-2008-4B9D-94CC-D1CE236F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055" y="5285232"/>
            <a:ext cx="1143000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B87B1E"/>
          </a:solidFill>
        </p:spPr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AE34AEA8-679C-4F1F-9E38-D7BD1A9F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055" y="5285232"/>
            <a:ext cx="114300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MySQL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405036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CB10260-03CF-44B8-8C5D-767831BD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"/>
            <a:ext cx="1109441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B87B1E"/>
                </a:solidFill>
                <a:latin typeface="Calibri"/>
                <a:ea typeface="Calibri"/>
                <a:cs typeface="Calibri"/>
              </a:rPr>
              <a:t>SECCIÓN II · PATRONES CREACIONALES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314ECA6-25BC-49C8-BB92-E9E13998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Arquitectura de patrones creacionales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AACEE85-D7E1-4221-A949-F374C0FA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61872"/>
            <a:ext cx="3600602" cy="2487168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77852D-A14B-4EC5-A3A8-15217169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3312"/>
            <a:ext cx="332628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Singleton</a:t>
            </a:r>
            <a:r>
              <a:rPr sz="9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   Configuración central</a:t>
            </a:r>
            <a:endParaRPr sz="1300"/>
          </a:p>
        </p:txBody>
      </p:sp>
      <p:pic>
        <p:nvPicPr>
          <p:cNvPr id="6" name="Image 0">
            <a:extLst xmlns:a="http://schemas.openxmlformats.org/drawingml/2006/main">
              <a:ext uri="{FF2B5EF4-FFF2-40B4-BE49-F238E27FC236}">
                <a16:creationId xmlns:a16="http://schemas.microsoft.com/office/drawing/2014/main" id="{AA99E039-B476-4DCE-B4C4-7D70BD3640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1bd7df7af4f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3747" y="1700784"/>
            <a:ext cx="2510389" cy="1956816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BAFA72C-BABA-45D7-8427-775C5E8C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546" y="1261872"/>
            <a:ext cx="3600602" cy="2487168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39B5011-FFD2-49EB-BD3F-28FBB962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706" y="1353312"/>
            <a:ext cx="332628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Factory Method</a:t>
            </a:r>
            <a:r>
              <a:rPr sz="9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   Canal de notificación</a:t>
            </a:r>
            <a:endParaRPr sz="1300"/>
          </a:p>
        </p:txBody>
      </p:sp>
      <p:pic>
        <p:nvPicPr>
          <p:cNvPr id="9" name="Image 1">
            <a:extLst xmlns:a="http://schemas.openxmlformats.org/drawingml/2006/main">
              <a:ext uri="{FF2B5EF4-FFF2-40B4-BE49-F238E27FC236}">
                <a16:creationId xmlns:a16="http://schemas.microsoft.com/office/drawing/2014/main" id="{F6392066-4D2E-4188-8F57-FD29D11F44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0b6fee83746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4722" y="1700784"/>
            <a:ext cx="2022251" cy="1956816"/>
          </a:xfrm>
          <a:prstGeom xmlns:a="http://schemas.openxmlformats.org/drawingml/2006/main" prst="rect">
            <a:avLst/>
          </a:prstGeom>
        </p:spPr>
      </p:pic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EDF51AF-093B-4D66-81B5-409D5864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453" y="1261872"/>
            <a:ext cx="3600602" cy="2487168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364AA31-50AC-4B0D-B6D8-A6895BB2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613" y="1353312"/>
            <a:ext cx="332628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Prototype</a:t>
            </a:r>
            <a:r>
              <a:rPr sz="9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   Clonar plantillas de historial</a:t>
            </a:r>
            <a:endParaRPr sz="1300"/>
          </a:p>
        </p:txBody>
      </p:sp>
      <p:pic>
        <p:nvPicPr>
          <p:cNvPr id="12" name="Image 2">
            <a:extLst xmlns:a="http://schemas.openxmlformats.org/drawingml/2006/main">
              <a:ext uri="{FF2B5EF4-FFF2-40B4-BE49-F238E27FC236}">
                <a16:creationId xmlns:a16="http://schemas.microsoft.com/office/drawing/2014/main" id="{BB30FDA1-4D5A-4634-8550-B9D928CCB1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91671175744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0795" y="1700784"/>
            <a:ext cx="1323918" cy="1956816"/>
          </a:xfrm>
          <a:prstGeom xmlns:a="http://schemas.openxmlformats.org/drawingml/2006/main" prst="rect">
            <a:avLst/>
          </a:prstGeom>
        </p:spPr>
      </p:pic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CA57E1E0-F09C-42C6-9CED-4E9007D8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95344"/>
            <a:ext cx="5474056" cy="2487168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256F2A02-5D88-4B76-82AE-35D3AB08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6784"/>
            <a:ext cx="519973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Abstract Factory</a:t>
            </a:r>
            <a:r>
              <a:rPr sz="9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   Familias de comprobantes (Boleta / Recibo)</a:t>
            </a:r>
            <a:endParaRPr sz="1300"/>
          </a:p>
        </p:txBody>
      </p:sp>
      <p:pic>
        <p:nvPicPr>
          <p:cNvPr id="15" name="Image 3">
            <a:extLst xmlns:a="http://schemas.openxmlformats.org/drawingml/2006/main">
              <a:ext uri="{FF2B5EF4-FFF2-40B4-BE49-F238E27FC236}">
                <a16:creationId xmlns:a16="http://schemas.microsoft.com/office/drawing/2014/main" id="{AC5E88D6-8D62-4BDF-8F0B-F96CF42E4C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c5ea29cef43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79654" y="4334256"/>
            <a:ext cx="3012027" cy="1956816"/>
          </a:xfrm>
          <a:prstGeom xmlns:a="http://schemas.openxmlformats.org/drawingml/2006/main" prst="rect">
            <a:avLst/>
          </a:prstGeom>
        </p:spPr>
      </p:pic>
      <p:sp>
        <p:nvSpPr>
          <p:cNvPr id="16" name="Shape 10">
            <a:extLst xmlns:a="http://schemas.openxmlformats.org/drawingml/2006/main">
              <a:ext uri="{FF2B5EF4-FFF2-40B4-BE49-F238E27FC236}">
                <a16:creationId xmlns:a16="http://schemas.microsoft.com/office/drawing/2014/main" id="{7B0FD130-BC98-4A6D-B5AE-E024C502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00" y="3895344"/>
            <a:ext cx="5474056" cy="2487168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96D21C31-D543-479E-A795-E145E422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160" y="3986784"/>
            <a:ext cx="519973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Builder</a:t>
            </a:r>
            <a:r>
              <a:rPr sz="9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   Reporte de atenciones paso a paso</a:t>
            </a:r>
            <a:endParaRPr sz="1300"/>
          </a:p>
        </p:txBody>
      </p:sp>
      <p:pic>
        <p:nvPicPr>
          <p:cNvPr id="18" name="Image 4">
            <a:extLst xmlns:a="http://schemas.openxmlformats.org/drawingml/2006/main">
              <a:ext uri="{FF2B5EF4-FFF2-40B4-BE49-F238E27FC236}">
                <a16:creationId xmlns:a16="http://schemas.microsoft.com/office/drawing/2014/main" id="{C3ACE3D4-F6CC-4415-8B4D-04FC0DB12B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646faea8648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5235" y="4334256"/>
            <a:ext cx="1501585" cy="19568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2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D7DF92A-7F80-4FD2-8B1A-B45668E7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"/>
            <a:ext cx="1109441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B87B1E"/>
                </a:solidFill>
                <a:latin typeface="Calibri"/>
                <a:ea typeface="Calibri"/>
                <a:cs typeface="Calibri"/>
              </a:rPr>
              <a:t>SECCIÓN II · PATRONES ESTRUCTURALES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96E2C33-97B7-4792-884F-35561E65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Arquitectura de patrones estructurales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481AD10-A408-471D-A3B7-EC907BDF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61872"/>
            <a:ext cx="3600602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7D88163-096A-4684-A9BF-FC078D00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3312"/>
            <a:ext cx="332628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Adapter</a:t>
            </a:r>
            <a:r>
              <a:rPr sz="9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   </a:t>
            </a:r>
            <a:r>
              <a:rPr sz="9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Validación de DNI simulada</a:t>
            </a:r>
            <a:endParaRPr sz="1300"/>
          </a:p>
        </p:txBody>
      </p:sp>
      <p:pic>
        <p:nvPicPr>
          <p:cNvPr id="6" name="Image 0">
            <a:extLst xmlns:a="http://schemas.openxmlformats.org/drawingml/2006/main">
              <a:ext uri="{FF2B5EF4-FFF2-40B4-BE49-F238E27FC236}">
                <a16:creationId xmlns:a16="http://schemas.microsoft.com/office/drawing/2014/main" id="{37036895-91D0-4323-8324-D81506DD70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e91973b2d4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6205" y="1700784"/>
            <a:ext cx="1725473" cy="2487168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FBE0DB0-935B-493A-89D4-EA482F4E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546" y="1261872"/>
            <a:ext cx="3600602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4E25E24-B55E-4745-92B3-16E9A0D5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706" y="1353312"/>
            <a:ext cx="332628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Decorator</a:t>
            </a:r>
            <a:r>
              <a:rPr sz="9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   Costo de consulta con añadidos</a:t>
            </a:r>
            <a:endParaRPr sz="1300"/>
          </a:p>
        </p:txBody>
      </p:sp>
      <p:pic>
        <p:nvPicPr>
          <p:cNvPr id="9" name="Image 1">
            <a:extLst xmlns:a="http://schemas.openxmlformats.org/drawingml/2006/main">
              <a:ext uri="{FF2B5EF4-FFF2-40B4-BE49-F238E27FC236}">
                <a16:creationId xmlns:a16="http://schemas.microsoft.com/office/drawing/2014/main" id="{1523F5FD-F73A-45EB-93CC-692A423C7D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a5f3f8b1c43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8255" y="1700784"/>
            <a:ext cx="2435185" cy="2487168"/>
          </a:xfrm>
          <a:prstGeom xmlns:a="http://schemas.openxmlformats.org/drawingml/2006/main" prst="rect">
            <a:avLst/>
          </a:prstGeom>
        </p:spPr>
      </p:pic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86D65FF-E44F-4846-B0C0-07EBE7C6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453" y="1261872"/>
            <a:ext cx="3600602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94FC141-38F9-45A4-A72C-1888B686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613" y="1353312"/>
            <a:ext cx="332628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Composite</a:t>
            </a:r>
            <a:r>
              <a:rPr sz="9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   Paquetes y combos de servicios</a:t>
            </a:r>
            <a:endParaRPr sz="1300"/>
          </a:p>
        </p:txBody>
      </p:sp>
      <p:pic>
        <p:nvPicPr>
          <p:cNvPr id="12" name="Image 2">
            <a:extLst xmlns:a="http://schemas.openxmlformats.org/drawingml/2006/main">
              <a:ext uri="{FF2B5EF4-FFF2-40B4-BE49-F238E27FC236}">
                <a16:creationId xmlns:a16="http://schemas.microsoft.com/office/drawing/2014/main" id="{D0970DA9-3F63-4061-956E-2C91590E4D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a7eb008f845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3293" y="1700784"/>
            <a:ext cx="1938921" cy="2487168"/>
          </a:xfrm>
          <a:prstGeom xmlns:a="http://schemas.openxmlformats.org/drawingml/2006/main" prst="rect">
            <a:avLst/>
          </a:prstGeom>
        </p:spPr>
      </p:pic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F8AB0BD9-C127-4972-9FD9-7DCE85B8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25696"/>
            <a:ext cx="11094415" cy="1956816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782FFCB5-5951-473E-9CBC-31EC3831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7136"/>
            <a:ext cx="1082009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Facade</a:t>
            </a:r>
            <a:r>
              <a:rPr sz="9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   AgendamientoFacade — pieza central del agendamiento</a:t>
            </a:r>
            <a:endParaRPr sz="1300"/>
          </a:p>
        </p:txBody>
      </p:sp>
      <p:pic>
        <p:nvPicPr>
          <p:cNvPr id="15" name="Image 3">
            <a:extLst xmlns:a="http://schemas.openxmlformats.org/drawingml/2006/main">
              <a:ext uri="{FF2B5EF4-FFF2-40B4-BE49-F238E27FC236}">
                <a16:creationId xmlns:a16="http://schemas.microsoft.com/office/drawing/2014/main" id="{5BA5015F-C796-4D40-B107-72EF9CDF50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e779646aa42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864608"/>
            <a:ext cx="6354249" cy="1426464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CAB2D34E-7BC4-4668-8AAF-DC133FD4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28616"/>
            <a:ext cx="3916375" cy="1316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221F"/>
                </a:solidFill>
                <a:latin typeface="Calibri"/>
                <a:ea typeface="Calibri"/>
                <a:cs typeface="Calibri"/>
              </a:rPr>
              <a:t>Una sola llamada </a:t>
            </a:r>
            <a:r>
              <a:rPr sz="1200" b="1">
                <a:solidFill>
                  <a:srgbClr val="0F5A51"/>
                </a:solidFill>
                <a:latin typeface="Consolas"/>
                <a:ea typeface="Consolas"/>
                <a:cs typeface="Consolas"/>
              </a:rPr>
              <a:t>agendarCita(...)</a:t>
            </a:r>
            <a:r>
              <a:rPr sz="120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 coordina: validación del médico, disponibilidad, cita + enlace de video, pago y notificación (reutiliza el Factory Method).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9174060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0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69663A0-06F0-414C-AF41-853F93BA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"/>
            <a:ext cx="1109441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B87B1E"/>
                </a:solidFill>
                <a:latin typeface="Calibri"/>
                <a:ea typeface="Calibri"/>
                <a:cs typeface="Calibri"/>
              </a:rPr>
              <a:t>DEMO EN VIVO · 1/2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4B5A54A-E037-42AD-878E-3666A3D5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Patrones creacionales en ejecución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BC8DF0-94A2-4F17-A560-A04C2FD0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553212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2CE0BF-01B0-4F4F-802C-91EE5266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1790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A5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61FD1D-EE79-4F83-8F0C-D661A3FD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1790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7F38B60-31A4-4126-9E84-DFC8917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380744"/>
            <a:ext cx="4617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Singleton</a:t>
            </a:r>
            <a:endParaRPr sz="13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5AEA250-FF96-41AF-973D-F909DE56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664208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F5A51"/>
                </a:solidFill>
                <a:latin typeface="Consolas"/>
                <a:ea typeface="Consolas"/>
                <a:cs typeface="Consolas"/>
              </a:rPr>
              <a:t>/demo/singleton</a:t>
            </a:r>
            <a:endParaRPr sz="1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E5A86C5-9DAD-41F8-92D2-1C2194DC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865376"/>
            <a:ext cx="4617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Dos llamadas a getInstance() devuelven el mismo objeto.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6338EB7-8D59-46D2-BA96-E202A43C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553212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065245A-9293-47B9-888D-2F8EE544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0545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A89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E7695A9-2168-41F5-B174-82C273BE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05456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B16A8CF-1CF0-498F-AA48-CDD8B007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368296"/>
            <a:ext cx="4617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Factory Method</a:t>
            </a:r>
            <a:endParaRPr sz="13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F9C0B28-E631-4F1A-A1FF-C75CE1A7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651760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F5A51"/>
                </a:solidFill>
                <a:latin typeface="Consolas"/>
                <a:ea typeface="Consolas"/>
                <a:cs typeface="Consolas"/>
              </a:rPr>
              <a:t>/demo/factory-method?tipo=sms</a:t>
            </a:r>
            <a:endParaRPr sz="1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552F060-943A-4D2D-B108-74C0AFF0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52928"/>
            <a:ext cx="4617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tipo=email o sms: el creador elige el canal simulado.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8787B04-266E-4242-93FD-59E3B353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73552"/>
            <a:ext cx="553212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3B2618B-55E4-4BA9-B3AD-62B0F585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930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B1E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3714939-58BE-4153-87B3-0A57FE25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930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32C0FA9-06DF-494F-B7C3-DC3AD251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355848"/>
            <a:ext cx="4617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Prototype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C683491-C89B-4E21-AF7A-EA976998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639312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F5A51"/>
                </a:solidFill>
                <a:latin typeface="Consolas"/>
                <a:ea typeface="Consolas"/>
                <a:cs typeface="Consolas"/>
              </a:rPr>
              <a:t>/demo/prototype?clave=nutricion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97DC81-45FF-4058-B520-FFF655E3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840480"/>
            <a:ext cx="4617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Un clon modificado y otro intacto: copias independientes.</a:t>
            </a:r>
            <a:endParaRPr sz="10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B84DDC1-5B4D-45D1-9FC2-D68D67CB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61104"/>
            <a:ext cx="553212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505D-0A58-4FB1-B245-DAA65AFB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80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A51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9C3C227-2890-4008-A7D9-8E1538BE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80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735457B-EF1B-4A08-9C2E-EDC9D14E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343400"/>
            <a:ext cx="4617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Abstract Factory</a:t>
            </a:r>
            <a:endParaRPr sz="13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D6AC4B7-5E7B-4994-B00F-52E0800B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626864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F5A51"/>
                </a:solidFill>
                <a:latin typeface="Consolas"/>
                <a:ea typeface="Consolas"/>
                <a:cs typeface="Consolas"/>
              </a:rPr>
              <a:t>/demo/abstract-factory?tipo=boleta&amp;monto=120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1017CCE-8085-4F5A-8BCE-F951FD15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28032"/>
            <a:ext cx="4617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Boleta con IGV; con tipo=recibo se crea otra familia.</a:t>
            </a:r>
            <a:endParaRPr sz="10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AA36EDA-6DCC-48DB-8935-E4BF06A9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48656"/>
            <a:ext cx="553212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1D62C09-6EC1-444B-9517-9673650D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46811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A89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22C9E93-4E00-4405-B19A-2A2B1401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46811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29AD23B-BCF1-4C4A-A593-B8CD6021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330952"/>
            <a:ext cx="4617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Builder</a:t>
            </a:r>
            <a:endParaRPr sz="13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212980A-32CC-414C-AF67-F3EF0385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614416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F5A51"/>
                </a:solidFill>
                <a:latin typeface="Consolas"/>
                <a:ea typeface="Consolas"/>
                <a:cs typeface="Consolas"/>
              </a:rPr>
              <a:t>/demo/builder</a:t>
            </a:r>
            <a:endParaRPr sz="10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D968494-76AB-4008-A59D-37F7A9D7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815584"/>
            <a:ext cx="4617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Reporte armado paso a paso con datos reales de la BD.</a:t>
            </a:r>
            <a:endParaRPr sz="10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62B80BCF-1CC2-47E2-AD24-6B0204A8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298448"/>
            <a:ext cx="5287975" cy="4160520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E3A36"/>
          </a:solidFill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E5BFBF1-2E34-4440-9FB5-D01201C9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435608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D5A"/>
          </a:solidFill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A72FB24D-D3EA-46CC-BBCC-8BCA2191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1435608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A13A"/>
          </a:solidFill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A2620260-7FD5-4BD9-8A43-96ADA9B4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1435608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B49C"/>
          </a:solidFill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0DAC990E-5733-42C3-BED5-52CA95CE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371600"/>
            <a:ext cx="437357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BFD3CD"/>
                </a:solidFill>
                <a:latin typeface="Consolas"/>
                <a:ea typeface="Consolas"/>
                <a:cs typeface="Consolas"/>
              </a:rPr>
              <a:t>localhost:8082/demo/abstract-factory?tipo=boleta&amp;monto=120</a:t>
            </a:r>
            <a:endParaRPr sz="9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6EDB6C81-04D5-4845-B659-6648419B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682496"/>
            <a:ext cx="5178247" cy="3721608"/>
          </a:xfrm>
          <a:prstGeom xmlns:a="http://schemas.openxmlformats.org/drawingml/2006/main" prst="roundRect">
            <a:avLst>
              <a:gd name="adj" fmla="val 1474"/>
            </a:avLst>
          </a:prstGeom>
          <a:solidFill xmlns:a="http://schemas.openxmlformats.org/drawingml/2006/main">
            <a:srgbClr val="0F2623"/>
          </a:solidFill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3806D2D-CFE7-45E1-BE9D-1D1998AA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65376"/>
            <a:ext cx="4739335" cy="3429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 b="1">
                <a:solidFill>
                  <a:srgbClr val="7FD1B9"/>
                </a:solidFill>
                <a:latin typeface="Consolas"/>
                <a:ea typeface="Consolas"/>
                <a:cs typeface="Consolas"/>
              </a:rPr>
              <a:t>PATRÓN ABSTRACT FACTORY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7FD1B9"/>
                </a:solidFill>
                <a:latin typeface="Consolas"/>
                <a:ea typeface="Consolas"/>
                <a:cs typeface="Consolas"/>
              </a:rPr>
              <a:t>=======================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Familia: BoletaFactory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--------------------------------------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 b="1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BOLETA DE VENTA ELECTRÓNICA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Serie: B001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Cliente : Karla Effio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Concepto: Consulta nutricional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Importe : S/ 120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--------------------------------------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2A13A"/>
                </a:solidFill>
                <a:latin typeface="Consolas"/>
                <a:ea typeface="Consolas"/>
                <a:cs typeface="Consolas"/>
              </a:rPr>
              <a:t>Op. Gravada: S/ 101.69 | IGV 18%: S/ 18.31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2A13A"/>
                </a:solidFill>
                <a:latin typeface="Consolas"/>
                <a:ea typeface="Consolas"/>
                <a:cs typeface="Consolas"/>
              </a:rPr>
              <a:t>Afecto a IGV.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 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 b="1">
                <a:solidFill>
                  <a:srgbClr val="7FD1B9"/>
                </a:solidFill>
                <a:latin typeface="Consolas"/>
                <a:ea typeface="Consolas"/>
                <a:cs typeface="Consolas"/>
              </a:rPr>
              <a:t>&gt; /demo/singleton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getInstance() #1 -&gt; objeto 62c1fff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getInstance() #2 -&gt; objeto 62c1fff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2A13A"/>
                </a:solidFill>
                <a:latin typeface="Consolas"/>
                <a:ea typeface="Consolas"/>
                <a:cs typeface="Consolas"/>
              </a:rPr>
              <a:t>¿Es la MISMA instancia?  true</a:t>
            </a:r>
            <a:endParaRPr sz="11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50C46AA7-D47D-47EF-9422-43DB63DC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532120"/>
            <a:ext cx="52879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Comprobantes de demostración · /demo/creacionales</a:t>
            </a:r>
            <a:endParaRPr sz="10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BEE600E3-303A-4D2D-AB9C-EB9C7FF6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870448"/>
            <a:ext cx="5287975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2ECE4"/>
          </a:solidFill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0F53596-09D7-47FB-80BD-24639757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870448"/>
            <a:ext cx="501365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21F"/>
                </a:solidFill>
                <a:latin typeface="Calibri"/>
                <a:ea typeface="Calibri"/>
                <a:cs typeface="Calibri"/>
              </a:rPr>
              <a:t>Antes de la demo:  XAMPP (MySQL)  →  .\mvnw.cmd spring-boot:run  →  localhost:8082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667265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BDFF85-D144-440E-A200-5BC5EA86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"/>
            <a:ext cx="1109441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B87B1E"/>
                </a:solidFill>
                <a:latin typeface="Calibri"/>
                <a:ea typeface="Calibri"/>
                <a:cs typeface="Calibri"/>
              </a:rPr>
              <a:t>DEMO EN VIVO · 2/2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1AC359-0DCC-4D98-BF70-53399311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Patrones estructurales en ejecución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141573D-7CC4-41E5-8D3B-18C94D64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553212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3DC564D-EB68-4795-8A95-4936410E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8191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A5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27A2EA-BDCD-4E9A-8585-76E99F43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8191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39DBD95-0B23-446B-ACEB-CAC2F6F6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380744"/>
            <a:ext cx="4617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Adapter</a:t>
            </a:r>
            <a:endParaRPr sz="13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C163F7A-9E5A-4FCB-8756-3E482081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664208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F5A51"/>
                </a:solidFill>
                <a:latin typeface="Consolas"/>
                <a:ea typeface="Consolas"/>
                <a:cs typeface="Consolas"/>
              </a:rPr>
              <a:t>/demo/adapter?dni=45231890</a:t>
            </a:r>
            <a:endParaRPr sz="1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4072DF2-5AA5-4C28-A7FC-3C8D6F49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993392"/>
            <a:ext cx="4617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El proveedor simulado responde 'APELLIDOS|NOMBRES'.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163A82D-C4AC-4A6E-86E3-20DB4C88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50592"/>
            <a:ext cx="553212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50C7D5B-80D1-43CB-B643-AE5F1381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3405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A89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9DDBA23-FD22-406A-B911-92B0B774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34056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792176C-C680-4C26-AB23-3D61C068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532888"/>
            <a:ext cx="4617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Facade</a:t>
            </a:r>
            <a:endParaRPr sz="13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43B6426-944C-4810-BAAD-83996410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16352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F5A51"/>
                </a:solidFill>
                <a:latin typeface="Consolas"/>
                <a:ea typeface="Consolas"/>
                <a:cs typeface="Consolas"/>
              </a:rPr>
              <a:t>/demo/facade?idPaciente=1&amp;idMedico=1&amp;tipo=Teleconsulta</a:t>
            </a:r>
            <a:endParaRPr sz="1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E812B7D-4F32-4608-AD14-B68080C0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145536"/>
            <a:ext cx="4617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Una llamada guarda cita, pago pendiente y aviso simulado.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7DD228-BA9F-4AC9-9904-E7D8659C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02736"/>
            <a:ext cx="553212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98A9C1E-4A33-4AF8-9D99-0174E2C2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86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B1E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F7FAE98-C02B-4316-8C59-F241A307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86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31C02FB-C5BF-4CDC-AFA0-8DEBA23C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685032"/>
            <a:ext cx="4617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Decorator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46BDA12-EFB3-4109-BE01-860E4B7E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968496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F5A51"/>
                </a:solidFill>
                <a:latin typeface="Consolas"/>
                <a:ea typeface="Consolas"/>
                <a:cs typeface="Consolas"/>
              </a:rPr>
              <a:t>/demo/decorator?base=80&amp;teleconsulta=true&amp;seguro=true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8EE2348-6A8C-4959-8D3B-65CF6F49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297680"/>
            <a:ext cx="4617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S/ 80 + recargo + seguro + IGV = S/ 112.10, sin tocar la base.</a:t>
            </a:r>
            <a:endParaRPr sz="10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5DB72E1-9FB1-4B2C-9DAF-F0580FCD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0"/>
            <a:ext cx="553212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2F31E30-9A5B-4D1C-B72D-2CD95923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03834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A51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090B772-6893-4B29-87EE-83FBAE84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03834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83F1A69-3A5B-49AF-89A1-DED124F7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37176"/>
            <a:ext cx="4617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Composite</a:t>
            </a:r>
            <a:endParaRPr sz="13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B28B2C2-78B4-414B-BDEA-2A07D4EF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120640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F5A51"/>
                </a:solidFill>
                <a:latin typeface="Consolas"/>
                <a:ea typeface="Consolas"/>
                <a:cs typeface="Consolas"/>
              </a:rPr>
              <a:t>/demo/composite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3FA806A-2F21-4BA7-BB28-99E165C4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449824"/>
            <a:ext cx="4617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Combo con un paquete anidado: precio total recursivo (S/ 300).</a:t>
            </a:r>
            <a:endParaRPr sz="10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AAC36A7B-B9DE-4118-B563-1F6846E2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298448"/>
            <a:ext cx="5287975" cy="4160520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E3A36"/>
          </a:solidFill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AF2C9C4-DC5A-4A03-94DB-43B27320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435608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D5A"/>
          </a:solidFill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8A2ACB5-BC6A-402E-9EF5-AB15F3BA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1435608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A13A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FFB56356-94CF-4737-ACC5-51D2CAA7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1435608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B49C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4F17935-E177-4643-ABA2-9D13C7D8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371600"/>
            <a:ext cx="437357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BFD3CD"/>
                </a:solidFill>
                <a:latin typeface="Consolas"/>
                <a:ea typeface="Consolas"/>
                <a:cs typeface="Consolas"/>
              </a:rPr>
              <a:t>localhost:8082/demo/facade?idPaciente=1&amp;idMedico=1</a:t>
            </a:r>
            <a:endParaRPr sz="9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41493CAB-CBB9-4310-BAE6-B70D360B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682496"/>
            <a:ext cx="5178247" cy="3721608"/>
          </a:xfrm>
          <a:prstGeom xmlns:a="http://schemas.openxmlformats.org/drawingml/2006/main" prst="roundRect">
            <a:avLst>
              <a:gd name="adj" fmla="val 1474"/>
            </a:avLst>
          </a:prstGeom>
          <a:solidFill xmlns:a="http://schemas.openxmlformats.org/drawingml/2006/main">
            <a:srgbClr val="0F2623"/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DED9036-F416-4195-9E7D-93B1F511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65376"/>
            <a:ext cx="4739335" cy="3429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 b="1">
                <a:solidFill>
                  <a:srgbClr val="7FD1B9"/>
                </a:solidFill>
                <a:latin typeface="Consolas"/>
                <a:ea typeface="Consolas"/>
                <a:cs typeface="Consolas"/>
              </a:rPr>
              <a:t>PATRÓN FACADE (agendamiento de cita)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7FD1B9"/>
                </a:solidFill>
                <a:latin typeface="Consolas"/>
                <a:ea typeface="Consolas"/>
                <a:cs typeface="Consolas"/>
              </a:rPr>
              <a:t>====================================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Una sola llamada coordinó: validación,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disponibilidad, </a:t>
            </a: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cita, pago y aviso.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--------------------------------------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 b="1">
                <a:solidFill>
                  <a:srgbClr val="E2A13A"/>
                </a:solidFill>
                <a:latin typeface="Consolas"/>
                <a:ea typeface="Consolas"/>
                <a:cs typeface="Consolas"/>
              </a:rPr>
              <a:t>OK  Cita agendada correctamente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    N° de cita   : 1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Enlace demo  : sin reunión real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Aviso simulado: destinatario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                   karla.effio@mail.com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 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 b="1">
                <a:solidFill>
                  <a:srgbClr val="7FD1B9"/>
                </a:solidFill>
                <a:latin typeface="Consolas"/>
                <a:ea typeface="Consolas"/>
                <a:cs typeface="Consolas"/>
              </a:rPr>
              <a:t>&gt; /demo/decorator?base=80&amp;seguro=true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Incluye: base + recargo teleconsulta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E6F2EE"/>
                </a:solidFill>
                <a:latin typeface="Consolas"/>
                <a:ea typeface="Consolas"/>
                <a:cs typeface="Consolas"/>
              </a:rPr>
              <a:t>         + seguro + IGV(18%)</a:t>
            </a:r>
            <a:endParaRPr sz="11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 b="1">
                <a:solidFill>
                  <a:srgbClr val="E2A13A"/>
                </a:solidFill>
                <a:latin typeface="Consolas"/>
                <a:ea typeface="Consolas"/>
                <a:cs typeface="Consolas"/>
              </a:rPr>
              <a:t>TOTAL  : S/ 112.10</a:t>
            </a:r>
            <a:endParaRPr sz="11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A947D456-1EB3-441B-BADE-BD8053E3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532120"/>
            <a:ext cx="52879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Solo /demo/facade persiste la reserva · envíos y video simulados</a:t>
            </a:r>
            <a:endParaRPr sz="10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2ADB575F-DBA5-4CA3-8A68-38BD3A43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870448"/>
            <a:ext cx="5287975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2ECE4"/>
          </a:solidFill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6B9E1786-706F-4CA3-A273-547DCCCC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870448"/>
            <a:ext cx="501365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5221F"/>
                </a:solidFill>
                <a:latin typeface="Consolas"/>
                <a:ea typeface="Consolas"/>
                <a:cs typeface="Consolas"/>
              </a:rPr>
              <a:t>BD: cita · pago · historial_clinico · notificacion.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28573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2B944E-B244-4ECC-AA7F-4C9C810A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"/>
            <a:ext cx="1109441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B87B1E"/>
                </a:solidFill>
                <a:latin typeface="Calibri"/>
                <a:ea typeface="Calibri"/>
                <a:cs typeface="Calibri"/>
              </a:rPr>
              <a:t>CIERRE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737083-E1A8-4769-995F-43DADCD4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Lecciones aprendidas y refactorización del código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EA6A5EA-2179-45BA-B85B-339BE2FA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4329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300">
                <a:solidFill>
                  <a:srgbClr val="B87B1E"/>
                </a:solidFill>
                <a:latin typeface="Calibri"/>
                <a:ea typeface="Calibri"/>
                <a:cs typeface="Calibri"/>
              </a:rPr>
              <a:t>LECCIONES APRENDIDAS</a:t>
            </a:r>
            <a:endParaRPr sz="10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D95865E-2143-430E-85FF-6C0D650D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148" y="1325880"/>
            <a:ext cx="54329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300">
                <a:solidFill>
                  <a:srgbClr val="B87B1E"/>
                </a:solidFill>
                <a:latin typeface="Calibri"/>
                <a:ea typeface="Calibri"/>
                <a:cs typeface="Calibri"/>
              </a:rPr>
              <a:t>REFACTORIZACIÓN DEL CÓDIGO</a:t>
            </a:r>
            <a:endParaRPr sz="10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36412EA-ECF7-4D1D-A33B-8058E50B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5432908" cy="95097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8ECBCCF-E5BD-4B41-921F-6FBF7713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2880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A51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0E93227-BE50-443F-A646-3AA323D0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28800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0EFE7F0-2AD6-4B76-9264-653BAD86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764792"/>
            <a:ext cx="45459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Patrones donde hay un problema real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FD0686B-AF86-4671-864E-1FC6BEFF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057400"/>
            <a:ext cx="454594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Cada patrón resuelve una necesidad concreta de SaludCerca; aplicarlo sin ese problema sería sobre-ingeniería.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1ED405A-2BBB-455C-9B58-55D9BCE6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06624"/>
            <a:ext cx="5432908" cy="95097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E8B9BDD-C3F3-4C8F-810A-8B92306F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8950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A5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31EA838-3076-4315-9C19-8270D2BE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89504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BA69B84-B073-4CAE-9D49-B8EBC726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825496"/>
            <a:ext cx="45459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Los patrones se combinan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03E88D8-0E7C-4A66-B4EB-A19C9894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118104"/>
            <a:ext cx="454594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El Facade reutiliza el Factory Method; el Decorator y el Abstract Factory leen el IGV del Singleton.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35533FF-73DF-44F4-B005-E30B188D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67328"/>
            <a:ext cx="5432908" cy="95097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6088E45-0B87-4114-928D-45D1CD14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5020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A5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A0AF5A2-3AEB-4B5D-9027-1FE8E9EF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50208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2400CBF-6AC5-46A3-AD86-7E7F89DB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886200"/>
            <a:ext cx="45459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Programar contra abstracciones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1A28EAE-3480-46F9-B9C2-58A37B36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178808"/>
            <a:ext cx="454594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Cambiar RENIEC por otro proveedor solo toca el Adapter: el resto del sistema no se entera (Abierto/Cerrado).</a:t>
            </a:r>
            <a:endParaRPr sz="10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0A2A847-33DF-4636-982E-91C65C1D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28032"/>
            <a:ext cx="5432908" cy="95097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E2E4120-F520-4CDD-83D1-CA1E0198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01091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A51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5227364-6AE6-4D18-8941-07354F77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010912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DFB59A1-0797-4178-B7CE-F02EFD53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946904"/>
            <a:ext cx="45459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El modelo de datos manda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C9A6BDF-25C0-457C-AF46-DF958F89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5239512"/>
            <a:ext cx="454594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Mapear JPA sobre el script de la PC1 exigió precisión: tablas, columnas y valores ENUM idénticos.</a:t>
            </a:r>
            <a:endParaRPr sz="10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BAC84E3-A4BE-4044-9BB4-8B96320F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148" y="1645920"/>
            <a:ext cx="5432908" cy="95097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F811043-0046-4845-862A-62691F12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740" y="182880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A89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A147892-3AA8-4B88-BFC4-B087C1D9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740" y="1828800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C05ECC7-B296-4105-A2D9-28ACA447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956" y="1764792"/>
            <a:ext cx="45459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Esquema explícito de base de datos</a:t>
            </a:r>
            <a:endParaRPr sz="13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E046270-1771-4755-9F39-306E77FA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956" y="2057400"/>
            <a:ext cx="454594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El script SQL crea las tablas. ddl-auto=none conserva ese esquema y evita cambios automáticos al iniciar.</a:t>
            </a:r>
            <a:endParaRPr sz="10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CBEFCF31-032F-4F49-B2F6-2D38FDFC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148" y="2706624"/>
            <a:ext cx="5432908" cy="95097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727BB65-2AB2-46D8-9646-AE7234DA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740" y="288950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A89"/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E66023F-F770-4040-8D60-99538936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740" y="2889504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3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80BF3D0-A650-45D8-9893-F039F869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956" y="2825496"/>
            <a:ext cx="45459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Entorno alineado con Java 21</a:t>
            </a:r>
            <a:endParaRPr sz="13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7B3A556-6EF6-41BC-A8BA-14148D96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956" y="3118104"/>
            <a:ext cx="454594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Maven y VS Code usan JDK 21. La compilación y el recorrido de reserva y atención fueron verificados.</a:t>
            </a:r>
            <a:endParaRPr sz="10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6EF69C4-9CEF-413F-BD97-A7F754D5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148" y="3767328"/>
            <a:ext cx="5432908" cy="95097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E6D0DBC-CC4C-45A3-8DFA-EED68FD4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740" y="395020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A89"/>
          </a:solidFill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FE43FA4-01B1-4EA9-9AB3-B67627D2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740" y="3950208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13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A5955446-F88D-42F3-815C-A4DF36C5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956" y="3886200"/>
            <a:ext cx="45459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Inyección por constructor</a:t>
            </a:r>
            <a:endParaRPr sz="13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D8444A27-84D4-4669-96CB-683D7810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956" y="4178808"/>
            <a:ext cx="454594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Las dependencias se declaran en el constructor; las abstracciones permiten sustituir implementaciones (D de SOLID).</a:t>
            </a:r>
            <a:endParaRPr sz="10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B3C8C7B-20CB-47A9-B29A-9C15BB8B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148" y="4828032"/>
            <a:ext cx="5432908" cy="95097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9"/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D25EBF08-8F7B-4A96-B082-F8009D2C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740" y="501091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A89"/>
          </a:solidFill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0ECD753-9824-408F-9A1A-1363B473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740" y="5010912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13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161879B2-B402-45C0-BBB6-3F7EBA6A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956" y="4946904"/>
            <a:ext cx="45459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21F"/>
                </a:solidFill>
                <a:latin typeface="Cambria"/>
                <a:ea typeface="Cambria"/>
                <a:cs typeface="Cambria"/>
              </a:rPr>
              <a:t>Subsistemas fuera del Facade</a:t>
            </a:r>
            <a:endParaRPr sz="13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8839AE9D-CFCE-496D-B5E0-4106FEB4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956" y="5239512"/>
            <a:ext cx="454594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2645D"/>
                </a:solidFill>
                <a:latin typeface="Calibri"/>
                <a:ea typeface="Calibri"/>
                <a:cs typeface="Calibri"/>
              </a:rPr>
              <a:t>DisponibilidadService y GeneradorEnlaceVideollamada se extrajeron: una responsabilidad por clase (la S de SOLID).</a:t>
            </a:r>
            <a:endParaRPr sz="10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30754A9-442D-4210-9B15-4D1A3006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0"/>
            <a:ext cx="11094415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3D39"/>
          </a:solidFill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88994039-AD99-4CCA-897F-9CB18A2A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43600"/>
            <a:ext cx="106372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2A13A"/>
                </a:solidFill>
                <a:latin typeface="Calibri"/>
                <a:ea typeface="Calibri"/>
                <a:cs typeface="Calibri"/>
              </a:rPr>
              <a:t>Siguiente etapa: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acceso por roles, cancelación y patrones de comportamiento: Strategy y Observer.</a:t>
            </a:r>
            <a:r>
              <a:rPr sz="1200" b="1">
                <a:solidFill>
                  <a:srgbClr val="E2A13A"/>
                </a:solidFill>
                <a:latin typeface="Calibri"/>
                <a:ea typeface="Calibri"/>
                <a:cs typeface="Calibri"/>
              </a:rPr>
              <a:t>     ¡Gracias! · ¿Preguntas?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6798084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7FD1B9"/>
      </a:hlink>
      <a:folHlink>
        <a:srgbClr val="7FD1B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2026-10-16T04:39:28.0840000Z</dcterms:created>
  <dcterms:modified xsi:type="dcterms:W3CDTF">2026-10-16T04:39:28.0840000Z</dcterms:modified>
</coreProperties>
</file>